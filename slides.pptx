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18872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320"/>
              </a:spcAft>
              <a:defRPr sz="4400" b="1">
                <a:solidFill>
                  <a:srgbClr val="1A1A2E"/>
                </a:solidFill>
                <a:latin typeface="Calibri"/>
              </a:defRPr>
            </a:pPr>
            <a:r>
              <a:t>How Fast Is Your Kernel, Really?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37744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60"/>
              </a:spcAft>
              <a:defRPr sz="2200" b="0">
                <a:solidFill>
                  <a:srgbClr val="0E6EB8"/>
                </a:solidFill>
                <a:latin typeface="Calibri"/>
              </a:defRPr>
            </a:pPr>
            <a:r>
              <a:t>Profiling SOTA GPU Kernels with torch.profiler and Nsight Compute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383280"/>
            <a:ext cx="2103120" cy="36576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56616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60"/>
              </a:spcAft>
              <a:defRPr sz="2200" b="1">
                <a:solidFill>
                  <a:srgbClr val="1A1A2E"/>
                </a:solidFill>
                <a:latin typeface="Calibri"/>
              </a:defRPr>
            </a:pPr>
            <a:r>
              <a:t>Aheli Poddar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02336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40"/>
              </a:spcAft>
              <a:defRPr sz="1800" b="0">
                <a:solidFill>
                  <a:srgbClr val="555555"/>
                </a:solidFill>
                <a:latin typeface="Calibri"/>
              </a:defRPr>
            </a:pPr>
            <a:r>
              <a:t>Associate Software Engineer, Red Hat PyTorch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5720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40"/>
              </a:spcAft>
              <a:defRPr sz="1800" b="0">
                <a:solidFill>
                  <a:srgbClr val="555555"/>
                </a:solidFill>
                <a:latin typeface="Calibri"/>
              </a:defRPr>
            </a:pPr>
            <a:r>
              <a:t>IISC Bangalore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5303520"/>
            <a:ext cx="4846320" cy="6400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57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600" b="1">
                <a:solidFill>
                  <a:srgbClr val="057A55"/>
                </a:solidFill>
                <a:latin typeface="Calibri"/>
              </a:defRPr>
            </a:pPr>
            <a:r>
              <a:t>NVIDIA H200  •  SM 9.0  •  143 GB HBM3e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1/37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What We’ll Cover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3291840" cy="457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291840" cy="29260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E6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400" b="1">
                <a:solidFill>
                  <a:srgbClr val="1A1A2E"/>
                </a:solidFill>
                <a:latin typeface="Calibri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60"/>
              </a:spcAft>
              <a:defRPr sz="2200" b="1">
                <a:solidFill>
                  <a:srgbClr val="0E6EB8"/>
                </a:solidFill>
                <a:latin typeface="Calibri"/>
              </a:defRPr>
            </a:pPr>
            <a:r>
              <a:t>DeepGEMM FP8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40"/>
              </a:spcAft>
              <a:defRPr sz="1800" b="1">
                <a:solidFill>
                  <a:srgbClr val="1A1A2E"/>
                </a:solidFill>
                <a:latin typeface="Calibri"/>
              </a:defRPr>
            </a:pPr>
            <a:r>
              <a:t>3.09x over bf16 cuBLAS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20"/>
              </a:spcAft>
              <a:defRPr sz="1400" b="0">
                <a:solidFill>
                  <a:srgbClr val="555555"/>
                </a:solidFill>
                <a:latin typeface="Calibri"/>
              </a:defRPr>
            </a:pPr>
            <a:r>
              <a:t>JIT-compiled FP8 GEMM</a:t>
            </a:r>
            <a:br/>
            <a:r>
              <a:t>from DeepSeek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59" y="1463040"/>
            <a:ext cx="3291840" cy="45720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80559" y="1554480"/>
            <a:ext cx="3291840" cy="29260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57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400" b="1">
                <a:solidFill>
                  <a:srgbClr val="1A1A2E"/>
                </a:solidFill>
                <a:latin typeface="Calibr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663439" y="17373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60"/>
              </a:spcAft>
              <a:defRPr sz="2200" b="1">
                <a:solidFill>
                  <a:srgbClr val="057A55"/>
                </a:solidFill>
                <a:latin typeface="Calibri"/>
              </a:defRPr>
            </a:pPr>
            <a:r>
              <a:t>FlashAttention-3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39" y="22860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40"/>
              </a:spcAft>
              <a:defRPr sz="1800" b="1">
                <a:solidFill>
                  <a:srgbClr val="1A1A2E"/>
                </a:solidFill>
                <a:latin typeface="Calibri"/>
              </a:defRPr>
            </a:pPr>
            <a:r>
              <a:t>2.0–2.6x over FA-2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39" y="29260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20"/>
              </a:spcAft>
              <a:defRPr sz="1400" b="0">
                <a:solidFill>
                  <a:srgbClr val="555555"/>
                </a:solidFill>
                <a:latin typeface="Calibri"/>
              </a:defRPr>
            </a:pPr>
            <a:r>
              <a:t>Hopper-native attention</a:t>
            </a:r>
            <a:br/>
            <a:r>
              <a:t>with WGMMA + TMA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463040"/>
            <a:ext cx="3291840" cy="45720"/>
          </a:xfrm>
          <a:prstGeom prst="rect">
            <a:avLst/>
          </a:prstGeom>
          <a:solidFill>
            <a:srgbClr val="B4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0" y="1554480"/>
            <a:ext cx="3291840" cy="29260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B4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400" b="1">
                <a:solidFill>
                  <a:srgbClr val="1A1A2E"/>
                </a:solidFill>
                <a:latin typeface="Calibri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412480" y="17373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60"/>
              </a:spcAft>
              <a:defRPr sz="2200" b="1">
                <a:solidFill>
                  <a:srgbClr val="B46A00"/>
                </a:solidFill>
                <a:latin typeface="Calibri"/>
              </a:defRPr>
            </a:pPr>
            <a:r>
              <a:t>SonicMoE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2860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40"/>
              </a:spcAft>
              <a:defRPr sz="1800" b="1">
                <a:solidFill>
                  <a:srgbClr val="1A1A2E"/>
                </a:solidFill>
                <a:latin typeface="Calibri"/>
              </a:defRPr>
            </a:pPr>
            <a:r>
              <a:t>35 TFLOPS on H200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9260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20"/>
              </a:spcAft>
              <a:defRPr sz="1400" b="0">
                <a:solidFill>
                  <a:srgbClr val="555555"/>
                </a:solidFill>
                <a:latin typeface="Calibri"/>
              </a:defRPr>
            </a:pPr>
            <a:r>
              <a:t>IO-aware MoE kernels</a:t>
            </a:r>
            <a:br/>
            <a:r>
              <a:t>from Tri Dao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0292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A1A2E"/>
                </a:solidFill>
                <a:latin typeface="Calibri"/>
              </a:defRPr>
            </a:pPr>
            <a:r>
              <a:t>Each kernel:  Code  →  Perfetto Trace  →  NCU Deep Dive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2/37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The Profiling Stack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3200400" cy="73152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E6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0E6EB8"/>
                </a:solidFill>
                <a:latin typeface="Calibri"/>
              </a:defRPr>
            </a:pPr>
            <a:r>
              <a:t>torch.profiler</a:t>
            </a:r>
          </a:p>
        </p:txBody>
      </p:sp>
      <p:sp>
        <p:nvSpPr>
          <p:cNvPr id="5" name="Down Arrow 4"/>
          <p:cNvSpPr/>
          <p:nvPr/>
        </p:nvSpPr>
        <p:spPr>
          <a:xfrm>
            <a:off x="2286000" y="2514600"/>
            <a:ext cx="457200" cy="457200"/>
          </a:xfrm>
          <a:prstGeom prst="downArrow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3108960"/>
            <a:ext cx="3200400" cy="73152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E6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Perfetto 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20"/>
              </a:spcAft>
              <a:defRPr sz="1400" b="0">
                <a:solidFill>
                  <a:srgbClr val="555555"/>
                </a:solidFill>
                <a:latin typeface="Calibri"/>
              </a:defRPr>
            </a:pPr>
            <a:r>
              <a:t>Temporal view: WHEN kernels run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200400" cy="73152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57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057A55"/>
                </a:solidFill>
                <a:latin typeface="Calibri"/>
              </a:defRPr>
            </a:pPr>
            <a:r>
              <a:t>Nsight Compute (ncu)</a:t>
            </a:r>
          </a:p>
        </p:txBody>
      </p:sp>
      <p:sp>
        <p:nvSpPr>
          <p:cNvPr id="9" name="Down Arrow 8"/>
          <p:cNvSpPr/>
          <p:nvPr/>
        </p:nvSpPr>
        <p:spPr>
          <a:xfrm>
            <a:off x="9418320" y="2514600"/>
            <a:ext cx="457200" cy="457200"/>
          </a:xfrm>
          <a:prstGeom prst="downArrow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46720" y="3108960"/>
            <a:ext cx="3200400" cy="73152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57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NCU GUI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40233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20"/>
              </a:spcAft>
              <a:defRPr sz="1400" b="0">
                <a:solidFill>
                  <a:srgbClr val="555555"/>
                </a:solidFill>
                <a:latin typeface="Calibri"/>
              </a:defRPr>
            </a:pPr>
            <a:r>
              <a:t>Hardware view: HOW kernels use the GPU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0" y="5120640"/>
            <a:ext cx="7589520" cy="36576"/>
          </a:xfrm>
          <a:prstGeom prst="rect">
            <a:avLst/>
          </a:prstGeom>
          <a:solidFill>
            <a:srgbClr val="B4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0" y="539496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60"/>
              </a:spcAft>
              <a:defRPr sz="2200" b="1">
                <a:solidFill>
                  <a:srgbClr val="B46A00"/>
                </a:solidFill>
                <a:latin typeface="Calibri"/>
              </a:defRPr>
            </a:pPr>
            <a:r>
              <a:t>torch.profiler tells you WHAT happened.  NCU tells you WHY.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3/37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600" b="1">
                <a:solidFill>
                  <a:srgbClr val="0E6EB8"/>
                </a:solidFill>
                <a:latin typeface="Calibri"/>
              </a:defRPr>
            </a:pPr>
            <a:r>
              <a:t>KERNEL 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DeepGEMM: JIT-Compiled FP8 GEMM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0">
                <a:solidFill>
                  <a:srgbClr val="555555"/>
                </a:solidFill>
                <a:latin typeface="Calibri"/>
              </a:defRPr>
            </a:pPr>
            <a:r>
              <a:t>github.com/deepseek-ai/DeepGEMM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389120"/>
            <a:ext cx="5943600" cy="73152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57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200" b="1">
                <a:solidFill>
                  <a:srgbClr val="057A55"/>
                </a:solidFill>
                <a:latin typeface="Calibri"/>
              </a:defRPr>
            </a:pPr>
            <a:r>
              <a:t>3.09x faster than bf16 cuBLAS on H200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4/37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What is FP8?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80"/>
              </a:spcAft>
              <a:defRPr sz="2600" b="1">
                <a:solidFill>
                  <a:srgbClr val="1A1A2E"/>
                </a:solidFill>
                <a:latin typeface="Calibri"/>
              </a:defRPr>
            </a:pPr>
            <a:r>
              <a:t>E4M3 Format:  [S] [E E E E] [M M M]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8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3 mantissa bits — optimized for forward pass / inference</a:t>
            </a:r>
          </a:p>
          <a:p>
            <a:pPr algn="l">
              <a:spcAft>
                <a:spcPts val="800"/>
              </a:spcAft>
              <a:defRPr sz="18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Block-scaled quantization: every 128 elements gets an FP32 scale factor</a:t>
            </a:r>
          </a:p>
          <a:p>
            <a:pPr algn="l">
              <a:spcAft>
                <a:spcPts val="800"/>
              </a:spcAft>
              <a:defRPr sz="18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Replaces the per-tensor scaling of classic INT8 quantization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4572000"/>
            <a:ext cx="7589520" cy="91440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57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400" b="1">
                <a:solidFill>
                  <a:srgbClr val="057A55"/>
                </a:solidFill>
                <a:latin typeface="Calibri"/>
              </a:defRPr>
            </a:pPr>
            <a:r>
              <a:t>2x Tensor Core throughput, half the data size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5/37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DeepGEMM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0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JIT compilation: first call compiles CUDA kernel, subsequent calls use cache</a:t>
            </a:r>
          </a:p>
          <a:p>
            <a:pPr algn="l">
              <a:spcAft>
                <a:spcPts val="800"/>
              </a:spcAft>
              <a:defRPr sz="20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generate_normal → FP8 casting + TMA-aligned scale factors</a:t>
            </a:r>
          </a:p>
          <a:p>
            <a:pPr algn="l">
              <a:spcAft>
                <a:spcPts val="800"/>
              </a:spcAft>
              <a:defRPr sz="20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transpose_fp32 helper: rearranges scale factors for TMA (padded stride 33 avoids bank conflicts)</a:t>
            </a:r>
          </a:p>
          <a:p>
            <a:pPr algn="l">
              <a:spcAft>
                <a:spcPts val="800"/>
              </a:spcAft>
              <a:defRPr sz="20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fp8_gemm_nt → sm90_fp8_gemm_1d2d_impl kernel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754880"/>
            <a:ext cx="2011680" cy="6400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E6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400" b="1">
                <a:solidFill>
                  <a:srgbClr val="1A1A2E"/>
                </a:solidFill>
                <a:latin typeface="Calibri"/>
              </a:defRPr>
            </a:pPr>
            <a:r>
              <a:t>generate_normal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4846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40"/>
              </a:spcAft>
              <a:defRPr sz="2800" b="1">
                <a:solidFill>
                  <a:srgbClr val="0E6E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4754880"/>
            <a:ext cx="2011680" cy="6400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E6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400" b="1">
                <a:solidFill>
                  <a:srgbClr val="1A1A2E"/>
                </a:solidFill>
                <a:latin typeface="Calibri"/>
              </a:defRPr>
            </a:pPr>
            <a:r>
              <a:t>transpose_fp32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59" y="4846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40"/>
              </a:spcAft>
              <a:defRPr sz="2800" b="1">
                <a:solidFill>
                  <a:srgbClr val="0E6E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754880"/>
            <a:ext cx="2011680" cy="6400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E6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400" b="1">
                <a:solidFill>
                  <a:srgbClr val="1A1A2E"/>
                </a:solidFill>
                <a:latin typeface="Calibri"/>
              </a:defRPr>
            </a:pPr>
            <a:r>
              <a:t>sm90_fp8_gemm_1d2d_impl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6/37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DeepGEMM — Perfetto Trace</a:t>
            </a:r>
          </a:p>
        </p:txBody>
      </p:sp>
      <p:pic>
        <p:nvPicPr>
          <p:cNvPr id="4" name="Picture 3" descr="Screenshot_From_2026-08-24_17-27-37-01a619c7-3129-4eec-a8c1-a6f5c64a50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069848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20"/>
              </a:spcAft>
              <a:defRPr sz="1400" b="0">
                <a:solidFill>
                  <a:srgbClr val="555555"/>
                </a:solidFill>
                <a:latin typeface="Calibri"/>
              </a:defRPr>
            </a:pPr>
            <a:r>
              <a:t>CPU lane: fp8_deepgemm annotation → GPU lane: transpose_fp32 + sm90_fp8_gemm_1d2d_impl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20"/>
              </a:spcAft>
              <a:defRPr sz="1400" b="0">
                <a:solidFill>
                  <a:srgbClr val="B46A00"/>
                </a:solidFill>
                <a:latin typeface="Calibri"/>
              </a:defRPr>
            </a:pPr>
            <a:r>
              <a:t>Look for: ProfilerStep#2/3/4, kernel names, CPU-GPU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7/37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DeepGEMM — Perfetto: bf16 Baseline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9418320" cy="2926080"/>
          </a:xfrm>
          <a:prstGeom prst="rect">
            <a:avLst/>
          </a:prstGeom>
          <a:solidFill>
            <a:srgbClr val="E8EEF4"/>
          </a:solidFill>
          <a:ln w="2540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777777"/>
                </a:solidFill>
                <a:latin typeface="Calibri"/>
              </a:defRPr>
            </a:pPr>
            <a:r>
              <a:t>[SCREENSHOT: Perfetto bf16 trace]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600" b="0">
                <a:solidFill>
                  <a:srgbClr val="1A1A2E"/>
                </a:solidFill>
                <a:latin typeface="Consolas"/>
              </a:defRPr>
            </a:pPr>
            <a:r>
              <a:t>CPU: bf16_matmul → aten::matmul → aten::mm</a:t>
            </a:r>
          </a:p>
          <a:p>
            <a:pPr algn="l">
              <a:defRPr sz="1600" b="0">
                <a:solidFill>
                  <a:srgbClr val="1A1A2E"/>
                </a:solidFill>
                <a:latin typeface="Consolas"/>
              </a:defRPr>
            </a:pPr>
            <a:r>
              <a:t>GPU: nvjet_tst_256x128_64x4_1x2_h_bz_coopA_NNT</a:t>
            </a:r>
          </a:p>
          <a:p>
            <a:pPr algn="l">
              <a:defRPr sz="1600" b="1">
                <a:solidFill>
                  <a:srgbClr val="B46A00"/>
                </a:solidFill>
                <a:latin typeface="Calibri"/>
              </a:defRPr>
            </a:pPr>
            <a:r>
              <a:t>3 ProfilerSteps × ~300µs 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8/37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DeepGEMM — Perfetto: FP8 Trace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9418320" cy="2926080"/>
          </a:xfrm>
          <a:prstGeom prst="rect">
            <a:avLst/>
          </a:prstGeom>
          <a:solidFill>
            <a:srgbClr val="E8EEF4"/>
          </a:solidFill>
          <a:ln w="2540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777777"/>
                </a:solidFill>
                <a:latin typeface="Calibri"/>
              </a:defRPr>
            </a:pPr>
            <a:r>
              <a:t>[SCREENSHOT: Perfetto FP8 trace]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600" b="0">
                <a:solidFill>
                  <a:srgbClr val="1A1A2E"/>
                </a:solidFill>
                <a:latin typeface="Consolas"/>
              </a:defRPr>
            </a:pPr>
            <a:r>
              <a:t>CPU: fp8_deepgemm annotation</a:t>
            </a:r>
          </a:p>
          <a:p>
            <a:pPr algn="l">
              <a:defRPr sz="1600" b="0">
                <a:solidFill>
                  <a:srgbClr val="1A1A2E"/>
                </a:solidFill>
                <a:latin typeface="Consolas"/>
              </a:defRPr>
            </a:pPr>
            <a:r>
              <a:t>GPU: transpose_fp32 (8µs) + sm90_fp8_gemm_1d2d_impl (~195µs)</a:t>
            </a:r>
          </a:p>
          <a:p>
            <a:pPr algn="l">
              <a:defRPr sz="1500" b="1">
                <a:solidFill>
                  <a:srgbClr val="B46A00"/>
                </a:solidFill>
                <a:latin typeface="Calibri"/>
              </a:defRPr>
            </a:pPr>
            <a:r>
              <a:t>Note: transpose_fp32 has padded stride 33 to avoid SMEM bank conflicts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9/37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Reading Kernel Names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1">
                <a:solidFill>
                  <a:srgbClr val="0E6EB8"/>
                </a:solidFill>
                <a:latin typeface="Calibri"/>
              </a:defRPr>
            </a:pPr>
            <a:r>
              <a:t>bf16 cuBLAS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5448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59"/>
              </a:spcAft>
              <a:defRPr sz="1200" b="0">
                <a:solidFill>
                  <a:srgbClr val="1A1A2E"/>
                </a:solidFill>
                <a:latin typeface="Consolas"/>
              </a:defRPr>
            </a:pPr>
            <a:r>
              <a:t>nvjet_tst_256x128_64x4_1x2_h_bz_coopA_NNT</a:t>
            </a:r>
          </a:p>
          <a:p>
            <a:pPr algn="l">
              <a:defRPr sz="1200" b="0">
                <a:solidFill>
                  <a:srgbClr val="1A1A2E"/>
                </a:solidFill>
                <a:latin typeface="Consolas"/>
              </a:defRPr>
            </a:pPr>
          </a:p>
          <a:p>
            <a:pPr algn="l">
              <a:defRPr sz="1200" b="0">
                <a:solidFill>
                  <a:srgbClr val="555555"/>
                </a:solidFill>
                <a:latin typeface="Consolas"/>
              </a:defRPr>
            </a:pPr>
            <a:r>
              <a:t>nvjet       = NVIDIA JetBLAS (Hopper cuBLAS)</a:t>
            </a:r>
          </a:p>
          <a:p>
            <a:pPr algn="l">
              <a:defRPr sz="1200" b="0">
                <a:solidFill>
                  <a:srgbClr val="555555"/>
                </a:solidFill>
                <a:latin typeface="Consolas"/>
              </a:defRPr>
            </a:pPr>
            <a:r>
              <a:t>tst         = tensor-sparse-tensor variant</a:t>
            </a:r>
          </a:p>
          <a:p>
            <a:pPr algn="l">
              <a:defRPr sz="1200" b="0">
                <a:solidFill>
                  <a:srgbClr val="555555"/>
                </a:solidFill>
                <a:latin typeface="Consolas"/>
              </a:defRPr>
            </a:pPr>
            <a:r>
              <a:t>256x128     = CTA tile (rows × cols)</a:t>
            </a:r>
          </a:p>
          <a:p>
            <a:pPr algn="l">
              <a:defRPr sz="1200" b="0">
                <a:solidFill>
                  <a:srgbClr val="555555"/>
                </a:solidFill>
                <a:latin typeface="Consolas"/>
              </a:defRPr>
            </a:pPr>
            <a:r>
              <a:t>64x4        = 64 K-tile × 4 pipeline stages</a:t>
            </a:r>
          </a:p>
          <a:p>
            <a:pPr algn="l">
              <a:defRPr sz="1200" b="0">
                <a:solidFill>
                  <a:srgbClr val="555555"/>
                </a:solidFill>
                <a:latin typeface="Consolas"/>
              </a:defRPr>
            </a:pPr>
            <a:r>
              <a:t>1x2         = warp arrangement</a:t>
            </a:r>
          </a:p>
          <a:p>
            <a:pPr algn="l">
              <a:defRPr sz="1200" b="0">
                <a:solidFill>
                  <a:srgbClr val="555555"/>
                </a:solidFill>
                <a:latin typeface="Consolas"/>
              </a:defRPr>
            </a:pPr>
            <a:r>
              <a:t>h           = Hopper architecture</a:t>
            </a:r>
          </a:p>
          <a:p>
            <a:pPr algn="l">
              <a:defRPr sz="1200" b="0">
                <a:solidFill>
                  <a:srgbClr val="555555"/>
                </a:solidFill>
                <a:latin typeface="Consolas"/>
              </a:defRPr>
            </a:pPr>
            <a:r>
              <a:t>bz          = block-zero optimization</a:t>
            </a:r>
          </a:p>
          <a:p>
            <a:pPr algn="l">
              <a:defRPr sz="1200" b="0">
                <a:solidFill>
                  <a:srgbClr val="555555"/>
                </a:solidFill>
                <a:latin typeface="Consolas"/>
              </a:defRPr>
            </a:pPr>
            <a:r>
              <a:t>coopA       = cooperative launch on A</a:t>
            </a:r>
          </a:p>
          <a:p>
            <a:pPr algn="l">
              <a:defRPr sz="1200" b="0">
                <a:solidFill>
                  <a:srgbClr val="555555"/>
                </a:solidFill>
                <a:latin typeface="Consolas"/>
              </a:defRPr>
            </a:pPr>
            <a:r>
              <a:t>NNT         = layout (A=row, B=row, out=col)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972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1">
                <a:solidFill>
                  <a:srgbClr val="057A55"/>
                </a:solidFill>
                <a:latin typeface="Calibri"/>
              </a:defRPr>
            </a:pPr>
            <a:r>
              <a:t>FP8 DeepGEMM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90"/>
              </a:spcAft>
              <a:defRPr sz="1300" b="0">
                <a:solidFill>
                  <a:srgbClr val="1A1A2E"/>
                </a:solidFill>
                <a:latin typeface="Consolas"/>
              </a:defRPr>
            </a:pPr>
            <a:r>
              <a:t>sm90_fp8_gemm_1d2d_impl</a:t>
            </a:r>
          </a:p>
          <a:p>
            <a:pPr algn="l">
              <a:defRPr sz="1300" b="0">
                <a:solidFill>
                  <a:srgbClr val="1A1A2E"/>
                </a:solidFill>
                <a:latin typeface="Consolas"/>
              </a:defRPr>
            </a:pPr>
          </a:p>
          <a:p>
            <a:pPr algn="l">
              <a:defRPr sz="1300" b="0">
                <a:solidFill>
                  <a:srgbClr val="555555"/>
                </a:solidFill>
                <a:latin typeface="Consolas"/>
              </a:defRPr>
            </a:pPr>
            <a:r>
              <a:t>sm90  = Hopper SM 9.0</a:t>
            </a:r>
          </a:p>
          <a:p>
            <a:pPr algn="l">
              <a:defRPr sz="1300" b="0">
                <a:solidFill>
                  <a:srgbClr val="555555"/>
                </a:solidFill>
                <a:latin typeface="Consolas"/>
              </a:defRPr>
            </a:pPr>
            <a:r>
              <a:t>fp8   = FP8 precision</a:t>
            </a:r>
          </a:p>
          <a:p>
            <a:pPr algn="l">
              <a:defRPr sz="1300" b="0">
                <a:solidFill>
                  <a:srgbClr val="555555"/>
                </a:solidFill>
                <a:latin typeface="Consolas"/>
              </a:defRPr>
            </a:pPr>
            <a:r>
              <a:t>gemm  = General Matrix Multiply</a:t>
            </a:r>
          </a:p>
          <a:p>
            <a:pPr algn="l">
              <a:defRPr sz="1300" b="0">
                <a:solidFill>
                  <a:srgbClr val="555555"/>
                </a:solidFill>
                <a:latin typeface="Consolas"/>
              </a:defRPr>
            </a:pPr>
            <a:r>
              <a:t>1d    = 1D scale on A (per-token)</a:t>
            </a:r>
          </a:p>
          <a:p>
            <a:pPr algn="l">
              <a:defRPr sz="1300" b="0">
                <a:solidFill>
                  <a:srgbClr val="555555"/>
                </a:solidFill>
                <a:latin typeface="Consolas"/>
              </a:defRPr>
            </a:pPr>
            <a:r>
              <a:t>2d    = 2D scale on B (per-128×128 block)</a:t>
            </a:r>
          </a:p>
          <a:p>
            <a:pPr algn="l">
              <a:defRPr sz="1300" b="0">
                <a:solidFill>
                  <a:srgbClr val="555555"/>
                </a:solidFill>
                <a:latin typeface="Consolas"/>
              </a:defRPr>
            </a:pPr>
            <a:r>
              <a:t>impl  = implementation kernel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1371600"/>
            <a:ext cx="27432" cy="4572000"/>
          </a:xfrm>
          <a:prstGeom prst="rect">
            <a:avLst/>
          </a:prstGeom>
          <a:solidFill>
            <a:srgbClr val="777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10/37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DeepGEMM — NCU Comparison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371600"/>
          <a:ext cx="9418320" cy="289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880360"/>
                <a:gridCol w="2880360"/>
              </a:tblGrid>
              <a:tr h="457200"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bf16 cuBLAS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DeepGEMM FP8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375 µs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251 µs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Compute Throughput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91.6%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67.1%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Memory Throughput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70.7%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54.5%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TMA Instructions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344K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59K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Memory BW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969 GB/s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543 GB/s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Wallclock (profiler)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~600 µs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~195 µs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50292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B46A00"/>
                </a:solidFill>
                <a:latin typeface="Calibri"/>
              </a:defRPr>
            </a:pPr>
            <a:r>
              <a:t>bf16 is more efficient.  FP8 is faster.</a:t>
            </a:r>
            <a:br/>
            <a:r>
              <a:t>Why?  2x Tensor Core FLOPS + half the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11/37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NCU: bf16 GEMM — Speed of Light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9418320" cy="3200400"/>
          </a:xfrm>
          <a:prstGeom prst="rect">
            <a:avLst/>
          </a:prstGeom>
          <a:solidFill>
            <a:srgbClr val="E8EEF4"/>
          </a:solidFill>
          <a:ln w="2540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777777"/>
                </a:solidFill>
                <a:latin typeface="Calibri"/>
              </a:defRPr>
            </a:pPr>
            <a:r>
              <a:t>[SCREENSHOT: NCU bf16 Speed of Light chart]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057A55"/>
                </a:solidFill>
                <a:latin typeface="Calibri"/>
              </a:defRPr>
            </a:pPr>
            <a:r>
              <a:t>91.6% Compute Throughput — this is what ‘good’ looks like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80"/>
              </a:spcAft>
              <a:defRPr sz="1600" b="0">
                <a:solidFill>
                  <a:srgbClr val="555555"/>
                </a:solidFill>
                <a:latin typeface="Calibri"/>
              </a:defRPr>
            </a:pPr>
            <a:r>
              <a:t>NCU flags: “High Throughput — utilizing greater than 80%”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12/37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NCU: DeepGEMM FP8 — Speed of Light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9418320" cy="3200400"/>
          </a:xfrm>
          <a:prstGeom prst="rect">
            <a:avLst/>
          </a:prstGeom>
          <a:solidFill>
            <a:srgbClr val="E8EEF4"/>
          </a:solidFill>
          <a:ln w="2540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777777"/>
                </a:solidFill>
                <a:latin typeface="Calibri"/>
              </a:defRPr>
            </a:pPr>
            <a:r>
              <a:t>[SCREENSHOT: NCU FP8 Speed of Light chart]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B46A00"/>
                </a:solidFill>
                <a:latin typeface="Calibri"/>
              </a:defRPr>
            </a:pPr>
            <a:r>
              <a:t>67.1% Compute, 54.5% Memory — compute-bound with scale factor overhead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13/37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NCU: Memory Data Path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0E6EB8"/>
                </a:solidFill>
                <a:latin typeface="Calibri"/>
              </a:defRPr>
            </a:pPr>
            <a:r>
              <a:t>bf16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TMA: 344K instructions</a:t>
            </a:r>
          </a:p>
          <a:p>
            <a:pPr algn="l"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Data: 2.82 GB through pipeline</a:t>
            </a:r>
          </a:p>
          <a:p>
            <a:pPr algn="l"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DSMEM: 382 instructions (uses SM clusters)</a:t>
            </a:r>
          </a:p>
          <a:p>
            <a:pPr algn="l"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Memory BW: 969 GB/s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657600"/>
            <a:ext cx="5303520" cy="2560320"/>
          </a:xfrm>
          <a:prstGeom prst="rect">
            <a:avLst/>
          </a:prstGeom>
          <a:solidFill>
            <a:srgbClr val="E8EEF4"/>
          </a:solidFill>
          <a:ln w="2540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777777"/>
                </a:solidFill>
                <a:latin typeface="Calibri"/>
              </a:defRPr>
            </a:pPr>
            <a:r>
              <a:t>[SCREENSHOT: NCU bf16 memory diagram]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0972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057A55"/>
                </a:solidFill>
                <a:latin typeface="Calibri"/>
              </a:defRPr>
            </a:pPr>
            <a:r>
              <a:t>FP8 DeepGEMM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  <a:buClr>
                <a:srgbClr val="057A55"/>
              </a:buClr>
              <a:buChar char="•"/>
            </a:pPr>
            <a:r>
              <a:t>TMA: 59K instructions (6x fewer)</a:t>
            </a:r>
          </a:p>
          <a:p>
            <a:pPr algn="l"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  <a:buClr>
                <a:srgbClr val="057A55"/>
              </a:buClr>
              <a:buChar char="•"/>
            </a:pPr>
            <a:r>
              <a:t>Data: 1.44 GB (half the data)</a:t>
            </a:r>
          </a:p>
          <a:p>
            <a:pPr algn="l"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  <a:buClr>
                <a:srgbClr val="057A55"/>
              </a:buClr>
              <a:buChar char="•"/>
            </a:pPr>
            <a:r>
              <a:t>DSMEM: 0 (no cross-SM sharing)</a:t>
            </a:r>
          </a:p>
          <a:p>
            <a:pPr algn="l"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  <a:buClr>
                <a:srgbClr val="057A55"/>
              </a:buClr>
              <a:buChar char="•"/>
            </a:pPr>
            <a:r>
              <a:t>Memory BW: 543 GB/s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3657600"/>
            <a:ext cx="5303520" cy="2560320"/>
          </a:xfrm>
          <a:prstGeom prst="rect">
            <a:avLst/>
          </a:prstGeom>
          <a:solidFill>
            <a:srgbClr val="E8EEF4"/>
          </a:solidFill>
          <a:ln w="2540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777777"/>
                </a:solidFill>
                <a:latin typeface="Calibri"/>
              </a:defRPr>
            </a:pPr>
            <a:r>
              <a:t>[SCREENSHOT: NCU FP8 memory diagram]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097280"/>
            <a:ext cx="27432" cy="5303520"/>
          </a:xfrm>
          <a:prstGeom prst="rect">
            <a:avLst/>
          </a:prstGeom>
          <a:solidFill>
            <a:srgbClr val="777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14/37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NCU: Occupancy — Both Kernels Are Resource-Heavy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188720"/>
          <a:ext cx="9418320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651760"/>
                <a:gridCol w="2651760"/>
              </a:tblGrid>
              <a:tr h="457200"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bf16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FP8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Registers/Thread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168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168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Dynamic SMEM/Block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213 KB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216 KB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Theoretical Occupancy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18.75%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18.75%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Achieved Occupancy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14.72%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14.00%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Block Limit (Registers)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Block Limit (Shared Mem)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Grid Size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132 (= 132 SMs)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132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Cluster Size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55778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40"/>
              </a:spcAft>
              <a:defRPr sz="1800" b="1">
                <a:solidFill>
                  <a:srgbClr val="B46A00"/>
                </a:solidFill>
                <a:latin typeface="Calibri"/>
              </a:defRPr>
            </a:pPr>
            <a:r>
              <a:t>Both kernels use maximum on-chip resources. 1 block per SM. Low occupancy by design.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15/37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DeepGEMM — NCU Key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63040"/>
            <a:ext cx="73152" cy="91440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0E6EB8"/>
                </a:solidFill>
                <a:latin typeface="Calibri"/>
              </a:defRPr>
            </a:pPr>
            <a:r>
              <a:t>Barrier Stalls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9"/>
              </a:spcAft>
              <a:defRPr sz="1700" b="0">
                <a:solidFill>
                  <a:srgbClr val="1A1A2E"/>
                </a:solidFill>
                <a:latin typeface="Calibri"/>
              </a:defRPr>
            </a:pPr>
            <a:r>
              <a:t>4.3 cycles/warp (32.95% est. speedup)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834640"/>
            <a:ext cx="73152" cy="914400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8346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057A55"/>
                </a:solidFill>
                <a:latin typeface="Calibri"/>
              </a:defRPr>
            </a:pPr>
            <a:r>
              <a:t>Occupancy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9"/>
              </a:spcAft>
              <a:defRPr sz="1700" b="0">
                <a:solidFill>
                  <a:srgbClr val="1A1A2E"/>
                </a:solidFill>
                <a:latin typeface="Calibri"/>
              </a:defRPr>
            </a:pPr>
            <a:r>
              <a:t>14% achieved (18.75% theoretical) — limited by 168 regs + 216 KB SMEM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206240"/>
            <a:ext cx="73152" cy="914400"/>
          </a:xfrm>
          <a:prstGeom prst="rect">
            <a:avLst/>
          </a:prstGeom>
          <a:solidFill>
            <a:srgbClr val="B4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2062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B46A00"/>
                </a:solidFill>
                <a:latin typeface="Calibri"/>
              </a:defRPr>
            </a:pPr>
            <a:r>
              <a:t>Shared Store Bank Conflicts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6634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9"/>
              </a:spcAft>
              <a:defRPr sz="1700" b="0">
                <a:solidFill>
                  <a:srgbClr val="1A1A2E"/>
                </a:solidFill>
                <a:latin typeface="Calibri"/>
              </a:defRPr>
            </a:pPr>
            <a:r>
              <a:t>FP8: 12.55% vs bf16: 8.65% — FP8 pays extra for scale factor stores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4864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40"/>
              </a:spcAft>
              <a:defRPr sz="1800" b="1">
                <a:solidFill>
                  <a:srgbClr val="B46A00"/>
                </a:solidFill>
                <a:latin typeface="Calibri"/>
              </a:defRPr>
            </a:pPr>
            <a:r>
              <a:t>"The scale factor overhead is the price of FP8 quantization"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16/37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600" b="1">
                <a:solidFill>
                  <a:srgbClr val="057A55"/>
                </a:solidFill>
                <a:latin typeface="Calibri"/>
              </a:defRPr>
            </a:pPr>
            <a:r>
              <a:t>KERNEL 2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FlashAttention-3: Hopper-Native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0">
                <a:solidFill>
                  <a:srgbClr val="555555"/>
                </a:solidFill>
                <a:latin typeface="Calibri"/>
              </a:defRPr>
            </a:pPr>
            <a:r>
              <a:t>github.com/Dao-AILab/flash-attention  (hopper/)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389120"/>
            <a:ext cx="7315200" cy="73152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57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200" b="1">
                <a:solidFill>
                  <a:srgbClr val="057A55"/>
                </a:solidFill>
                <a:latin typeface="Calibri"/>
              </a:defRPr>
            </a:pPr>
            <a:r>
              <a:t>2.0–2.6x faster than FA-2 across all sequence lengths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17/37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What Changed from FA-2 to FA-3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63040"/>
            <a:ext cx="548640" cy="548640"/>
          </a:xfrm>
          <a:prstGeom prst="round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4630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057A55"/>
                </a:solidFill>
                <a:latin typeface="Calibri"/>
              </a:defRPr>
            </a:pPr>
            <a:r>
              <a:t>WGMMA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8745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600" b="0">
                <a:solidFill>
                  <a:srgbClr val="1A1A2E"/>
                </a:solidFill>
                <a:latin typeface="Calibri"/>
              </a:defRPr>
            </a:pPr>
            <a:r>
              <a:t>Warp Group MMA: larger Tensor Core tiles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651760"/>
            <a:ext cx="548640" cy="548640"/>
          </a:xfrm>
          <a:prstGeom prst="round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6517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0E6EB8"/>
                </a:solidFill>
                <a:latin typeface="Calibri"/>
              </a:defRPr>
            </a:pPr>
            <a:r>
              <a:t>TMA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063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600" b="0">
                <a:solidFill>
                  <a:srgbClr val="1A1A2E"/>
                </a:solidFill>
                <a:latin typeface="Calibri"/>
              </a:defRPr>
            </a:pPr>
            <a:r>
              <a:t>Tensor Memory Accelerator: async bulk HBM → SMEM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840480"/>
            <a:ext cx="548640" cy="548640"/>
          </a:xfrm>
          <a:prstGeom prst="roundRect">
            <a:avLst/>
          </a:prstGeom>
          <a:solidFill>
            <a:srgbClr val="B4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8404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B46A00"/>
                </a:solidFill>
                <a:latin typeface="Calibri"/>
              </a:defRPr>
            </a:pPr>
            <a:r>
              <a:t>Warp Specialization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4251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600" b="0">
                <a:solidFill>
                  <a:srgbClr val="1A1A2E"/>
                </a:solidFill>
                <a:latin typeface="Calibri"/>
              </a:defRPr>
            </a:pPr>
            <a:r>
              <a:t>Producer warps (TMA) overlap with consumer warps (WGMMA)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937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1">
                <a:solidFill>
                  <a:srgbClr val="1A1A2E"/>
                </a:solidFill>
                <a:latin typeface="Calibri"/>
              </a:defRPr>
            </a:pPr>
            <a:r>
              <a:t>Plus: Ping-pong scheduling overlaps GEMM and softmax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18/37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FA-3 vs FA-2 — Scaling Results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0" y="1371600"/>
          <a:ext cx="8503920" cy="2082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94560"/>
              </a:tblGrid>
              <a:tr h="457200"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Seq Length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FA-2 (ms)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FA-3 (ms)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Speedup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512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0.059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0.031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1.89x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2048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0.980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0.474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2.07x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4096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3.698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1.667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2.22x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8192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14.054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6.593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2.13x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0" y="484632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057A55"/>
                </a:solidFill>
                <a:latin typeface="Calibri"/>
              </a:defRPr>
            </a:pPr>
            <a:r>
              <a:t>Consistent 2x across all sequence lengths — not a one-off optimization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19/37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FA-3 — Kernel Names Tell the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1">
                <a:solidFill>
                  <a:srgbClr val="555555"/>
                </a:solidFill>
                <a:latin typeface="Calibri"/>
              </a:defRPr>
            </a:pPr>
            <a:r>
              <a:t>FlashAttention-2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5029200" cy="73152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E6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800" b="1">
                <a:solidFill>
                  <a:srgbClr val="1A1A2E"/>
                </a:solidFill>
                <a:latin typeface="Calibri"/>
              </a:defRPr>
            </a:pPr>
            <a:r>
              <a:t>flash_fwd_kernel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  <a:defRPr sz="1400" b="0">
                <a:solidFill>
                  <a:srgbClr val="555555"/>
                </a:solidFill>
                <a:latin typeface="Calibri"/>
              </a:defRPr>
            </a:pPr>
            <a:r>
              <a:t>Hand-written CUDA kernel, vendored in PyTorch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0896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3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255 regs/thread (hardware max!)</a:t>
            </a:r>
          </a:p>
          <a:p>
            <a:pPr algn="l">
              <a:spcAft>
                <a:spcPts val="800"/>
              </a:spcAft>
              <a:defRPr sz="13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0 TMA instructions — legacy ld.global only</a:t>
            </a:r>
          </a:p>
          <a:p>
            <a:pPr algn="l">
              <a:spcAft>
                <a:spcPts val="800"/>
              </a:spcAft>
              <a:defRPr sz="13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211K local memory loads (register spills to HBM)</a:t>
            </a:r>
          </a:p>
          <a:p>
            <a:pPr algn="l">
              <a:spcAft>
                <a:spcPts val="800"/>
              </a:spcAft>
              <a:defRPr sz="13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128 threads/block (4 warps)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1">
                <a:solidFill>
                  <a:srgbClr val="555555"/>
                </a:solidFill>
                <a:latin typeface="Calibri"/>
              </a:defRPr>
            </a:pPr>
            <a:r>
              <a:t>FlashAttention-3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029200" cy="73152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57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800" b="1">
                <a:solidFill>
                  <a:srgbClr val="1A1A2E"/>
                </a:solidFill>
                <a:latin typeface="Calibri"/>
              </a:defRPr>
            </a:pPr>
            <a:r>
              <a:t>device_kernel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51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  <a:defRPr sz="1400" b="0">
                <a:solidFill>
                  <a:srgbClr val="555555"/>
                </a:solidFill>
                <a:latin typeface="Calibri"/>
              </a:defRPr>
            </a:pPr>
            <a:r>
              <a:t>CUTLASS 3.x CuTeDSL template, Hopper-native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10896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300">
                <a:solidFill>
                  <a:srgbClr val="1A1A2E"/>
                </a:solidFill>
                <a:latin typeface="Calibri"/>
              </a:defRPr>
              <a:buClr>
                <a:srgbClr val="057A55"/>
              </a:buClr>
              <a:buChar char="•"/>
            </a:pPr>
            <a:r>
              <a:t>168 regs/thread (no spills!)</a:t>
            </a:r>
          </a:p>
          <a:p>
            <a:pPr algn="l">
              <a:spcAft>
                <a:spcPts val="800"/>
              </a:spcAft>
              <a:defRPr sz="1300">
                <a:solidFill>
                  <a:srgbClr val="1A1A2E"/>
                </a:solidFill>
                <a:latin typeface="Calibri"/>
              </a:defRPr>
              <a:buClr>
                <a:srgbClr val="057A55"/>
              </a:buClr>
              <a:buChar char="•"/>
            </a:pPr>
            <a:r>
              <a:t>7.17K TMA instructions — hardware DMA engine</a:t>
            </a:r>
          </a:p>
          <a:p>
            <a:pPr algn="l">
              <a:spcAft>
                <a:spcPts val="800"/>
              </a:spcAft>
              <a:defRPr sz="1300">
                <a:solidFill>
                  <a:srgbClr val="1A1A2E"/>
                </a:solidFill>
                <a:latin typeface="Calibri"/>
              </a:defRPr>
              <a:buClr>
                <a:srgbClr val="057A55"/>
              </a:buClr>
              <a:buChar char="•"/>
            </a:pPr>
            <a:r>
              <a:t>0 local memory loads (zero register spills)</a:t>
            </a:r>
          </a:p>
          <a:p>
            <a:pPr algn="l">
              <a:spcAft>
                <a:spcPts val="800"/>
              </a:spcAft>
              <a:defRPr sz="1300">
                <a:solidFill>
                  <a:srgbClr val="1A1A2E"/>
                </a:solidFill>
                <a:latin typeface="Calibri"/>
              </a:defRPr>
              <a:buClr>
                <a:srgbClr val="057A55"/>
              </a:buClr>
              <a:buChar char="•"/>
            </a:pPr>
            <a:r>
              <a:t>384 threads/block (12 warps)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1371600"/>
            <a:ext cx="27432" cy="4114800"/>
          </a:xfrm>
          <a:prstGeom prst="rect">
            <a:avLst/>
          </a:prstGeom>
          <a:solidFill>
            <a:srgbClr val="777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530352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B46A00"/>
                </a:solidFill>
                <a:latin typeface="Calibri"/>
              </a:defRPr>
            </a:pPr>
            <a:r>
              <a:t>"From hand-tuned to template-generated — fewer registers, zero spills, hardware DMA"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20/37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FA-3 — Perfetto Trace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2286000"/>
            <a:ext cx="8534095" cy="320040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0E6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0"/>
          <a:lstStyle/>
          <a:p>
            <a:pPr algn="ctr">
              <a:spcAft>
                <a:spcPts val="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[LIVE DEMO — Perfetto UI]</a:t>
            </a:r>
            <a:br/>
            <a:br/>
            <a:r>
              <a:t>FA-2 trace (flash_fwd_kernel)  vs  FA-3 trace (device_kernel)</a:t>
            </a:r>
            <a:br/>
            <a:r>
              <a:t>Same attention, different kernel, 2x faster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21/37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FA-3 — NCU: The Register Spill Story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5303520" cy="228600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E6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400" b="1">
                <a:solidFill>
                  <a:srgbClr val="1A1A2E"/>
                </a:solidFill>
                <a:latin typeface="Calibri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1">
                <a:solidFill>
                  <a:srgbClr val="0E6EB8"/>
                </a:solidFill>
                <a:latin typeface="Calibri"/>
              </a:defRPr>
            </a:pPr>
            <a:r>
              <a:t>FA-2  (flash_fwd_kernel)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4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255 registers/thread — hardware maximum</a:t>
            </a:r>
          </a:p>
          <a:p>
            <a:pPr algn="l">
              <a:spcAft>
                <a:spcPts val="800"/>
              </a:spcAft>
              <a:defRPr sz="14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211,970 local memory load instructions</a:t>
            </a:r>
          </a:p>
          <a:p>
            <a:pPr algn="l">
              <a:spcAft>
                <a:spcPts val="800"/>
              </a:spcAft>
              <a:defRPr sz="14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Local memory = HBM round-trips!</a:t>
            </a:r>
          </a:p>
          <a:p>
            <a:pPr algn="l">
              <a:spcAft>
                <a:spcPts val="800"/>
              </a:spcAft>
              <a:defRPr sz="14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L1TEX suggestion: 29.4% est. speedup</a:t>
            </a:r>
          </a:p>
          <a:p>
            <a:pPr algn="l">
              <a:spcAft>
                <a:spcPts val="800"/>
              </a:spcAft>
              <a:defRPr sz="14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1/32 bytes utilized per sector (catastrophic)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03520" cy="228600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57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400" b="1">
                <a:solidFill>
                  <a:srgbClr val="1A1A2E"/>
                </a:solidFill>
                <a:latin typeface="Calibr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1">
                <a:solidFill>
                  <a:srgbClr val="057A55"/>
                </a:solidFill>
                <a:latin typeface="Calibri"/>
              </a:defRPr>
            </a:pPr>
            <a:r>
              <a:t>FA-3  (device_kernel)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400">
                <a:solidFill>
                  <a:srgbClr val="1A1A2E"/>
                </a:solidFill>
                <a:latin typeface="Calibri"/>
              </a:defRPr>
              <a:buClr>
                <a:srgbClr val="057A55"/>
              </a:buClr>
              <a:buChar char="•"/>
            </a:pPr>
            <a:r>
              <a:t>168 registers/thread — 87 fewer</a:t>
            </a:r>
          </a:p>
          <a:p>
            <a:pPr algn="l">
              <a:spcAft>
                <a:spcPts val="800"/>
              </a:spcAft>
              <a:defRPr sz="1400">
                <a:solidFill>
                  <a:srgbClr val="1A1A2E"/>
                </a:solidFill>
                <a:latin typeface="Calibri"/>
              </a:defRPr>
              <a:buClr>
                <a:srgbClr val="057A55"/>
              </a:buClr>
              <a:buChar char="•"/>
            </a:pPr>
            <a:r>
              <a:t>0 local memory load instructions</a:t>
            </a:r>
          </a:p>
          <a:p>
            <a:pPr algn="l">
              <a:spcAft>
                <a:spcPts val="800"/>
              </a:spcAft>
              <a:defRPr sz="1400">
                <a:solidFill>
                  <a:srgbClr val="1A1A2E"/>
                </a:solidFill>
                <a:latin typeface="Calibri"/>
              </a:defRPr>
              <a:buClr>
                <a:srgbClr val="057A55"/>
              </a:buClr>
              <a:buChar char="•"/>
            </a:pPr>
            <a:r>
              <a:t>7,170 TMA instructions (hardware DMA)</a:t>
            </a:r>
          </a:p>
          <a:p>
            <a:pPr algn="l">
              <a:spcAft>
                <a:spcPts val="800"/>
              </a:spcAft>
              <a:defRPr sz="1400">
                <a:solidFill>
                  <a:srgbClr val="1A1A2E"/>
                </a:solidFill>
                <a:latin typeface="Calibri"/>
              </a:defRPr>
              <a:buClr>
                <a:srgbClr val="057A55"/>
              </a:buClr>
              <a:buChar char="•"/>
            </a:pPr>
            <a:r>
              <a:t>196.91 KB SMEM (vs 63.54 KB)</a:t>
            </a:r>
          </a:p>
          <a:p>
            <a:pPr algn="l">
              <a:spcAft>
                <a:spcPts val="800"/>
              </a:spcAft>
              <a:defRPr sz="1400">
                <a:solidFill>
                  <a:srgbClr val="1A1A2E"/>
                </a:solidFill>
                <a:latin typeface="Calibri"/>
              </a:defRPr>
              <a:buClr>
                <a:srgbClr val="057A55"/>
              </a:buClr>
              <a:buChar char="•"/>
            </a:pPr>
            <a:r>
              <a:t>Data lives in SMEM, not registers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6000" y="4114800"/>
            <a:ext cx="7589520" cy="73152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B4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200" b="1">
                <a:solidFill>
                  <a:srgbClr val="B46A00"/>
                </a:solidFill>
                <a:latin typeface="Calibri"/>
              </a:defRPr>
            </a:pPr>
            <a:r>
              <a:t>FA-3 uses FEWER registers but spills LESS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12064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80"/>
              </a:spcAft>
              <a:defRPr sz="1600" b="0">
                <a:solidFill>
                  <a:srgbClr val="555555"/>
                </a:solidFill>
                <a:latin typeface="Calibri"/>
              </a:defRPr>
            </a:pPr>
            <a:r>
              <a:t>How?  TMA offloads data movement from registers → hardware DMA engine.</a:t>
            </a:r>
            <a:br/>
            <a:r>
              <a:t>SMEM used aggressively (196 KB vs 63 KB) — data lives in shared memory, not registers.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22/37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FA-3 — NCU: Speed of Light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5486400" cy="2560320"/>
          </a:xfrm>
          <a:prstGeom prst="rect">
            <a:avLst/>
          </a:prstGeom>
          <a:solidFill>
            <a:srgbClr val="E8EEF4"/>
          </a:solidFill>
          <a:ln w="2540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777777"/>
                </a:solidFill>
                <a:latin typeface="Calibri"/>
              </a:defRPr>
            </a:pPr>
            <a:r>
              <a:t>[SCREENSHOT: NCU FA-2 Speed of Light]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280160"/>
            <a:ext cx="5486400" cy="2560320"/>
          </a:xfrm>
          <a:prstGeom prst="rect">
            <a:avLst/>
          </a:prstGeom>
          <a:solidFill>
            <a:srgbClr val="E8EEF4"/>
          </a:solidFill>
          <a:ln w="2540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777777"/>
                </a:solidFill>
                <a:latin typeface="Calibri"/>
              </a:defRPr>
            </a:pPr>
            <a:r>
              <a:t>[SCREENSHOT: NCU FA-3 Speed of Light]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0233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50"/>
              </a:spcAft>
              <a:defRPr sz="1500" b="1">
                <a:solidFill>
                  <a:srgbClr val="0E6EB8"/>
                </a:solidFill>
                <a:latin typeface="Calibri"/>
              </a:defRPr>
            </a:pPr>
            <a:r>
              <a:t>FA-2: 28.6% compute, 30.4%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40233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50"/>
              </a:spcAft>
              <a:defRPr sz="1500" b="1">
                <a:solidFill>
                  <a:srgbClr val="057A55"/>
                </a:solidFill>
                <a:latin typeface="Calibri"/>
              </a:defRPr>
            </a:pPr>
            <a:r>
              <a:t>FA-3: 41.8% compute, 35.6% memory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286000" y="4480560"/>
          <a:ext cx="7589520" cy="2082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286000"/>
                <a:gridCol w="2286000"/>
              </a:tblGrid>
              <a:tr h="457200"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FA-2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FA-3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Duration (NCU)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76.90 µs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35.46 µs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Compute Throughput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28.56%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41.80%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Memory Throughput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30.35%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35.60%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Achieved Occupancy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1.18%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13.10%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23/37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FA-3 — NCU: Memory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0E6EB8"/>
                </a:solidFill>
                <a:latin typeface="Calibri"/>
              </a:defRPr>
            </a:pPr>
            <a:r>
              <a:t>FA-2 Data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5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HBM → legacy ld.global → Registers → SMEM</a:t>
            </a:r>
          </a:p>
          <a:p>
            <a:pPr algn="l">
              <a:spcAft>
                <a:spcPts val="800"/>
              </a:spcAft>
              <a:defRPr sz="15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49.96K global load instructions</a:t>
            </a:r>
          </a:p>
          <a:p>
            <a:pPr algn="l">
              <a:spcAft>
                <a:spcPts val="800"/>
              </a:spcAft>
              <a:defRPr sz="15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0 TMA instructions</a:t>
            </a:r>
          </a:p>
          <a:p>
            <a:pPr algn="l">
              <a:spcAft>
                <a:spcPts val="800"/>
              </a:spcAft>
              <a:defRPr sz="15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9.04% L1/TEX hit rate (cache thrashing)</a:t>
            </a:r>
          </a:p>
          <a:p>
            <a:pPr algn="l">
              <a:spcAft>
                <a:spcPts val="800"/>
              </a:spcAft>
              <a:defRPr sz="15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63.54 KB dynamic SMEM per block</a:t>
            </a:r>
          </a:p>
          <a:p>
            <a:pPr algn="l">
              <a:spcAft>
                <a:spcPts val="800"/>
              </a:spcAft>
              <a:defRPr sz="15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Register-heavy: 255/255 used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972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057A55"/>
                </a:solidFill>
                <a:latin typeface="Calibri"/>
              </a:defRPr>
            </a:pPr>
            <a:r>
              <a:t>FA-3 Data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500">
                <a:solidFill>
                  <a:srgbClr val="1A1A2E"/>
                </a:solidFill>
                <a:latin typeface="Calibri"/>
              </a:defRPr>
              <a:buClr>
                <a:srgbClr val="057A55"/>
              </a:buClr>
              <a:buChar char="•"/>
            </a:pPr>
            <a:r>
              <a:t>HBM → TMA → SMEM (bypasses registers!)</a:t>
            </a:r>
          </a:p>
          <a:p>
            <a:pPr algn="l">
              <a:spcAft>
                <a:spcPts val="800"/>
              </a:spcAft>
              <a:defRPr sz="1500">
                <a:solidFill>
                  <a:srgbClr val="1A1A2E"/>
                </a:solidFill>
                <a:latin typeface="Calibri"/>
              </a:defRPr>
              <a:buClr>
                <a:srgbClr val="057A55"/>
              </a:buClr>
              <a:buChar char="•"/>
            </a:pPr>
            <a:r>
              <a:t>8.70K global load instructions (6x fewer)</a:t>
            </a:r>
          </a:p>
          <a:p>
            <a:pPr algn="l">
              <a:spcAft>
                <a:spcPts val="800"/>
              </a:spcAft>
              <a:defRPr sz="1500">
                <a:solidFill>
                  <a:srgbClr val="1A1A2E"/>
                </a:solidFill>
                <a:latin typeface="Calibri"/>
              </a:defRPr>
              <a:buClr>
                <a:srgbClr val="057A55"/>
              </a:buClr>
              <a:buChar char="•"/>
            </a:pPr>
            <a:r>
              <a:t>7.17K TMA instructions</a:t>
            </a:r>
          </a:p>
          <a:p>
            <a:pPr algn="l">
              <a:spcAft>
                <a:spcPts val="800"/>
              </a:spcAft>
              <a:defRPr sz="1500">
                <a:solidFill>
                  <a:srgbClr val="1A1A2E"/>
                </a:solidFill>
                <a:latin typeface="Calibri"/>
              </a:defRPr>
              <a:buClr>
                <a:srgbClr val="057A55"/>
              </a:buClr>
              <a:buChar char="•"/>
            </a:pPr>
            <a:r>
              <a:t>67.29% L1/TEX hit rate (7x better)</a:t>
            </a:r>
          </a:p>
          <a:p>
            <a:pPr algn="l">
              <a:spcAft>
                <a:spcPts val="800"/>
              </a:spcAft>
              <a:defRPr sz="1500">
                <a:solidFill>
                  <a:srgbClr val="1A1A2E"/>
                </a:solidFill>
                <a:latin typeface="Calibri"/>
              </a:defRPr>
              <a:buClr>
                <a:srgbClr val="057A55"/>
              </a:buClr>
              <a:buChar char="•"/>
            </a:pPr>
            <a:r>
              <a:t>196.91 KB dynamic SMEM per block (3x more)</a:t>
            </a:r>
          </a:p>
          <a:p>
            <a:pPr algn="l">
              <a:spcAft>
                <a:spcPts val="800"/>
              </a:spcAft>
              <a:defRPr sz="1500">
                <a:solidFill>
                  <a:srgbClr val="1A1A2E"/>
                </a:solidFill>
                <a:latin typeface="Calibri"/>
              </a:defRPr>
              <a:buClr>
                <a:srgbClr val="057A55"/>
              </a:buClr>
              <a:buChar char="•"/>
            </a:pPr>
            <a:r>
              <a:t>Register-light: 168/255 used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0" y="1097280"/>
            <a:ext cx="27432" cy="4114800"/>
          </a:xfrm>
          <a:prstGeom prst="rect">
            <a:avLst/>
          </a:prstGeom>
          <a:solidFill>
            <a:srgbClr val="777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828800" y="5029200"/>
            <a:ext cx="8503920" cy="91440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57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800" b="1">
                <a:solidFill>
                  <a:srgbClr val="057A55"/>
                </a:solidFill>
                <a:latin typeface="Calibri"/>
              </a:defRPr>
            </a:pPr>
            <a:r>
              <a:t>TMA bypasses registers entirely — hardware DMA loads 2D tiles from HBM to SMEM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24/37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FA-3 — NCU Comparison (Verified on H200)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097280"/>
          <a:ext cx="1033272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566160"/>
                <a:gridCol w="3566160"/>
              </a:tblGrid>
              <a:tr h="457200"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FA-2 (flash_fwd_kernel)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FA-3 (device_kernel)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76.90 µs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35.46 µs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Compute Throughput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28.56%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41.80%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Registers/Thread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255 (max!)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168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Block Size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128 (4 warps)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384 (12 warps)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Dynamic SMEM/Block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63.54 KB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196.91 KB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TMA Instructions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7,170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Local Mem Loads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211,970 (spills!)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L1/TEX Hit Rate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9.04%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67.29%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Achieved Occupancy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1.18%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13.10%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Theor. Occupancy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12.50%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18.75%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40"/>
              </a:spcAft>
              <a:defRPr sz="1800" b="1">
                <a:solidFill>
                  <a:srgbClr val="057A55"/>
                </a:solidFill>
                <a:latin typeface="Calibri"/>
              </a:defRPr>
            </a:pPr>
            <a:r>
              <a:t>FA-3: 2.17x faster, 11x better occupancy, zero register spills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25/37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600" b="1">
                <a:solidFill>
                  <a:srgbClr val="B46A00"/>
                </a:solidFill>
                <a:latin typeface="Calibri"/>
              </a:defRPr>
            </a:pPr>
            <a:r>
              <a:t>KERNEL 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4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SonicMoE: IO-Aware MoE Kernels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0">
                <a:solidFill>
                  <a:srgbClr val="555555"/>
                </a:solidFill>
                <a:latin typeface="Calibri"/>
              </a:defRPr>
            </a:pPr>
            <a:r>
              <a:t>github.com/Dao-AILab/sonic-moe  (Tri Dao, Princeton / Together 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389120"/>
            <a:ext cx="7315200" cy="73152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B4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200" b="1">
                <a:solidFill>
                  <a:srgbClr val="B46A00"/>
                </a:solidFill>
                <a:latin typeface="Calibri"/>
              </a:defRPr>
            </a:pPr>
            <a:r>
              <a:t>1.82x faster than ScatterMoE on H200 (NCU verified)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26/37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ScatterMoE vs SonicMoE —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555555"/>
                </a:solidFill>
                <a:latin typeface="Calibri"/>
              </a:defRPr>
            </a:pPr>
            <a:r>
              <a:t>ScatterMoE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029200" cy="6400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600" b="1">
                <a:solidFill>
                  <a:srgbClr val="1A1A2E"/>
                </a:solidFill>
                <a:latin typeface="Calibri"/>
              </a:defRPr>
            </a:pPr>
            <a:r>
              <a:t>Triton-compiled _scatter2scatter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  <a:buClr>
                <a:srgbClr val="555555"/>
              </a:buClr>
              <a:buChar char="•"/>
            </a:pPr>
            <a:r>
              <a:t>5+ separate kernels per MoE step</a:t>
            </a:r>
          </a:p>
          <a:p>
            <a:pPr algn="l"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  <a:buClr>
                <a:srgbClr val="555555"/>
              </a:buClr>
              <a:buChar char="•"/>
            </a:pPr>
            <a:r>
              <a:t>Legacy global loads (0 TMA)</a:t>
            </a:r>
          </a:p>
          <a:p>
            <a:pPr algn="l"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  <a:buClr>
                <a:srgbClr val="555555"/>
              </a:buClr>
              <a:buChar char="•"/>
            </a:pPr>
            <a:r>
              <a:t>torch.compile overhead</a:t>
            </a:r>
          </a:p>
          <a:p>
            <a:pPr algn="l"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  <a:buClr>
                <a:srgbClr val="555555"/>
              </a:buClr>
              <a:buChar char="•"/>
            </a:pPr>
            <a:r>
              <a:t>GPU→CPU sync (aten::_local_scalar_dense)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B46A00"/>
                </a:solidFill>
                <a:latin typeface="Calibri"/>
              </a:defRPr>
            </a:pPr>
            <a:r>
              <a:t>SonicMoE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554480"/>
            <a:ext cx="5029200" cy="6400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B4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600" b="1">
                <a:solidFill>
                  <a:srgbClr val="1A1A2E"/>
                </a:solidFill>
                <a:latin typeface="Calibri"/>
              </a:defRPr>
            </a:pPr>
            <a:r>
              <a:t>CUTLASS 3.x quackgemm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37744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  <a:buClr>
                <a:srgbClr val="B46A00"/>
              </a:buClr>
              <a:buChar char="•"/>
            </a:pPr>
            <a:r>
              <a:t>2 fused GEMM kernels per step</a:t>
            </a:r>
          </a:p>
          <a:p>
            <a:pPr algn="l"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  <a:buClr>
                <a:srgbClr val="B46A00"/>
              </a:buClr>
              <a:buChar char="•"/>
            </a:pPr>
            <a:r>
              <a:t>30,720 TMA instructions</a:t>
            </a:r>
          </a:p>
          <a:p>
            <a:pPr algn="l"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  <a:buClr>
                <a:srgbClr val="B46A00"/>
              </a:buClr>
              <a:buChar char="•"/>
            </a:pPr>
            <a:r>
              <a:t>No torch.compile needed</a:t>
            </a:r>
          </a:p>
          <a:p>
            <a:pPr algn="l"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  <a:buClr>
                <a:srgbClr val="B46A00"/>
              </a:buClr>
              <a:buChar char="•"/>
            </a:pPr>
            <a:r>
              <a:t>No GPU→CPU sync points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1097280"/>
            <a:ext cx="27432" cy="3657600"/>
          </a:xfrm>
          <a:prstGeom prst="rect">
            <a:avLst/>
          </a:prstGeom>
          <a:solidFill>
            <a:srgbClr val="777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371600" y="5029200"/>
            <a:ext cx="9418320" cy="82296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B4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800" b="1">
                <a:solidFill>
                  <a:srgbClr val="B46A00"/>
                </a:solidFill>
                <a:latin typeface="Calibri"/>
              </a:defRPr>
            </a:pPr>
            <a:r>
              <a:t>Gather → GEMM prologue.  SwiGLU → GEMM epilogue.  Scatter → epilogue store.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27/37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SonicMoE — Perfetto Trace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2286000"/>
            <a:ext cx="8534095" cy="320040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0E6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0"/>
          <a:lstStyle/>
          <a:p>
            <a:pPr algn="ctr">
              <a:spcAft>
                <a:spcPts val="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[LIVE DEMO — Perfetto UI]</a:t>
            </a:r>
            <a:br/>
            <a:br/>
            <a:r>
              <a:t>SonicMoE vs ScatterMoE trace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486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  <a:defRPr sz="1400" b="0">
                <a:solidFill>
                  <a:srgbClr val="1A1A2E"/>
                </a:solidFill>
                <a:latin typeface="Consolas"/>
              </a:defRPr>
            </a:pPr>
            <a:r>
              <a:t>CPU: sonicmoe_forward → TC_Softmax_TopK_Router → _UpProjection → _DownProjection</a:t>
            </a:r>
          </a:p>
          <a:p>
            <a:pPr algn="l">
              <a:defRPr sz="1400" b="0">
                <a:solidFill>
                  <a:srgbClr val="1A1A2E"/>
                </a:solidFill>
                <a:latin typeface="Consolas"/>
              </a:defRPr>
            </a:pPr>
            <a:r>
              <a:t>GPU: 2 dominant blocks — quackgemm_actGemmGatedSm90 + quackgemm_default_epiGemmDefaultSm90</a:t>
            </a:r>
          </a:p>
          <a:p>
            <a:pPr algn="l">
              <a:defRPr sz="1400" b="1">
                <a:solidFill>
                  <a:srgbClr val="B46A00"/>
                </a:solidFill>
                <a:latin typeface="Calibri"/>
              </a:defRPr>
            </a:pPr>
            <a:r>
              <a:t>Compare: ScatterMoE shows 6+ small blocks.  SonicMoE shows 2 large blocks.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28/37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SonicMoE — NCU Comparison (Verified on H200)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097280"/>
          <a:ext cx="1033272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657600"/>
                <a:gridCol w="3657600"/>
              </a:tblGrid>
              <a:tr h="457200"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ScatterMoE (_scatter2scatter)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SonicMoE (quackgemm)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90.21 µs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49.47 µs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NCU Verdict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"Latency Issue"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"Balanced Throughput"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Compute Throughput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29.65%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53.21%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Memory Throughput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59.34%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60.76%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Registers/Thread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114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168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Block Size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128 (4 warps)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384 (12 warps)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TMA Instructions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30,720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Global Load Insts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110,390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15,780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Achieved Occupancy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12.10%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19.78%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Theor. Occupancy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11.50%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18.75%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40"/>
              </a:spcAft>
              <a:defRPr sz="1800" b="1">
                <a:solidFill>
                  <a:srgbClr val="B46A00"/>
                </a:solidFill>
                <a:latin typeface="Calibri"/>
              </a:defRPr>
            </a:pPr>
            <a:r>
              <a:t>Latency Issue → Balanced Throughput: the single most important diagnostic shift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29/37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SonicMoE — NCU: Speed of Light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5486400" cy="2560320"/>
          </a:xfrm>
          <a:prstGeom prst="rect">
            <a:avLst/>
          </a:prstGeom>
          <a:solidFill>
            <a:srgbClr val="E8EEF4"/>
          </a:solidFill>
          <a:ln w="2540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777777"/>
                </a:solidFill>
                <a:latin typeface="Calibri"/>
              </a:defRPr>
            </a:pPr>
            <a:r>
              <a:t>[SCREENSHOT: NCU ScatterMoE Speed of Light]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280160"/>
            <a:ext cx="5486400" cy="2560320"/>
          </a:xfrm>
          <a:prstGeom prst="rect">
            <a:avLst/>
          </a:prstGeom>
          <a:solidFill>
            <a:srgbClr val="E8EEF4"/>
          </a:solidFill>
          <a:ln w="2540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777777"/>
                </a:solidFill>
                <a:latin typeface="Calibri"/>
              </a:defRPr>
            </a:pPr>
            <a:r>
              <a:t>[SCREENSHOT: NCU SonicMoE Speed of Light]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0233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50"/>
              </a:spcAft>
              <a:defRPr sz="1500" b="1">
                <a:solidFill>
                  <a:srgbClr val="555555"/>
                </a:solidFill>
                <a:latin typeface="Calibri"/>
              </a:defRPr>
            </a:pPr>
            <a:r>
              <a:t>ScatterMoE: 29.65% compute, 59.34% memory — Latency Issue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40233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50"/>
              </a:spcAft>
              <a:defRPr sz="1500" b="1">
                <a:solidFill>
                  <a:srgbClr val="B46A00"/>
                </a:solidFill>
                <a:latin typeface="Calibri"/>
              </a:defRPr>
            </a:pPr>
            <a:r>
              <a:t>SonicMoE: 53.21% compute, 60.76% memory — Balanced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30/37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SonicMoE — NCU: Memory &amp; TMA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555555"/>
                </a:solidFill>
                <a:latin typeface="Calibri"/>
              </a:defRPr>
            </a:pPr>
            <a:r>
              <a:t>ScatterMoE Data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500">
                <a:solidFill>
                  <a:srgbClr val="1A1A2E"/>
                </a:solidFill>
                <a:latin typeface="Calibri"/>
              </a:defRPr>
              <a:buClr>
                <a:srgbClr val="555555"/>
              </a:buClr>
              <a:buChar char="•"/>
            </a:pPr>
            <a:r>
              <a:t>HBM → legacy ld.global → SMEM</a:t>
            </a:r>
          </a:p>
          <a:p>
            <a:pPr algn="l">
              <a:spcAft>
                <a:spcPts val="800"/>
              </a:spcAft>
              <a:defRPr sz="1500">
                <a:solidFill>
                  <a:srgbClr val="1A1A2E"/>
                </a:solidFill>
                <a:latin typeface="Calibri"/>
              </a:defRPr>
              <a:buClr>
                <a:srgbClr val="555555"/>
              </a:buClr>
              <a:buChar char="•"/>
            </a:pPr>
            <a:r>
              <a:t>110,390 global load instructions</a:t>
            </a:r>
          </a:p>
          <a:p>
            <a:pPr algn="l">
              <a:spcAft>
                <a:spcPts val="800"/>
              </a:spcAft>
              <a:defRPr sz="1500">
                <a:solidFill>
                  <a:srgbClr val="1A1A2E"/>
                </a:solidFill>
                <a:latin typeface="Calibri"/>
              </a:defRPr>
              <a:buClr>
                <a:srgbClr val="555555"/>
              </a:buClr>
              <a:buChar char="•"/>
            </a:pPr>
            <a:r>
              <a:t>0 TMA instructions</a:t>
            </a:r>
          </a:p>
          <a:p>
            <a:pPr algn="l">
              <a:spcAft>
                <a:spcPts val="800"/>
              </a:spcAft>
              <a:defRPr sz="1500">
                <a:solidFill>
                  <a:srgbClr val="1A1A2E"/>
                </a:solidFill>
                <a:latin typeface="Calibri"/>
              </a:defRPr>
              <a:buClr>
                <a:srgbClr val="555555"/>
              </a:buClr>
              <a:buChar char="•"/>
            </a:pPr>
            <a:r>
              <a:t>0 DSMEM instructions</a:t>
            </a:r>
          </a:p>
          <a:p>
            <a:pPr algn="l">
              <a:spcAft>
                <a:spcPts val="800"/>
              </a:spcAft>
              <a:defRPr sz="1500">
                <a:solidFill>
                  <a:srgbClr val="1A1A2E"/>
                </a:solidFill>
                <a:latin typeface="Calibri"/>
              </a:defRPr>
              <a:buClr>
                <a:srgbClr val="555555"/>
              </a:buClr>
              <a:buChar char="•"/>
            </a:pPr>
            <a:r>
              <a:t>56.98% L2 hit rate</a:t>
            </a:r>
          </a:p>
          <a:p>
            <a:pPr algn="l">
              <a:spcAft>
                <a:spcPts val="800"/>
              </a:spcAft>
              <a:defRPr sz="1500">
                <a:solidFill>
                  <a:srgbClr val="1A1A2E"/>
                </a:solidFill>
                <a:latin typeface="Calibri"/>
              </a:defRPr>
              <a:buClr>
                <a:srgbClr val="555555"/>
              </a:buClr>
              <a:buChar char="•"/>
            </a:pPr>
            <a:r>
              <a:t>65.54 KB dynamic SMEM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B46A00"/>
                </a:solidFill>
                <a:latin typeface="Calibri"/>
              </a:defRPr>
            </a:pPr>
            <a:r>
              <a:t>SonicMoE Data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500">
                <a:solidFill>
                  <a:srgbClr val="1A1A2E"/>
                </a:solidFill>
                <a:latin typeface="Calibri"/>
              </a:defRPr>
              <a:buClr>
                <a:srgbClr val="B46A00"/>
              </a:buClr>
              <a:buChar char="•"/>
            </a:pPr>
            <a:r>
              <a:t>HBM → TMA → SMEM (hardware DMA!)</a:t>
            </a:r>
          </a:p>
          <a:p>
            <a:pPr algn="l">
              <a:spcAft>
                <a:spcPts val="800"/>
              </a:spcAft>
              <a:defRPr sz="1500">
                <a:solidFill>
                  <a:srgbClr val="1A1A2E"/>
                </a:solidFill>
                <a:latin typeface="Calibri"/>
              </a:defRPr>
              <a:buClr>
                <a:srgbClr val="B46A00"/>
              </a:buClr>
              <a:buChar char="•"/>
            </a:pPr>
            <a:r>
              <a:t>15,780 global loads (7x fewer)</a:t>
            </a:r>
          </a:p>
          <a:p>
            <a:pPr algn="l">
              <a:spcAft>
                <a:spcPts val="800"/>
              </a:spcAft>
              <a:defRPr sz="1500">
                <a:solidFill>
                  <a:srgbClr val="1A1A2E"/>
                </a:solidFill>
                <a:latin typeface="Calibri"/>
              </a:defRPr>
              <a:buClr>
                <a:srgbClr val="B46A00"/>
              </a:buClr>
              <a:buChar char="•"/>
            </a:pPr>
            <a:r>
              <a:t>30,720 TMA instructions</a:t>
            </a:r>
          </a:p>
          <a:p>
            <a:pPr algn="l">
              <a:spcAft>
                <a:spcPts val="800"/>
              </a:spcAft>
              <a:defRPr sz="1500">
                <a:solidFill>
                  <a:srgbClr val="1A1A2E"/>
                </a:solidFill>
                <a:latin typeface="Calibri"/>
              </a:defRPr>
              <a:buClr>
                <a:srgbClr val="B46A00"/>
              </a:buClr>
              <a:buChar char="•"/>
            </a:pPr>
            <a:r>
              <a:t>834 DSMEM instructions (inter-SM)</a:t>
            </a:r>
          </a:p>
          <a:p>
            <a:pPr algn="l">
              <a:spcAft>
                <a:spcPts val="800"/>
              </a:spcAft>
              <a:defRPr sz="1500">
                <a:solidFill>
                  <a:srgbClr val="1A1A2E"/>
                </a:solidFill>
                <a:latin typeface="Calibri"/>
              </a:defRPr>
              <a:buClr>
                <a:srgbClr val="B46A00"/>
              </a:buClr>
              <a:buChar char="•"/>
            </a:pPr>
            <a:r>
              <a:t>84.37% L1/TEX hit rate</a:t>
            </a:r>
          </a:p>
          <a:p>
            <a:pPr algn="l">
              <a:spcAft>
                <a:spcPts val="800"/>
              </a:spcAft>
              <a:defRPr sz="1500">
                <a:solidFill>
                  <a:srgbClr val="1A1A2E"/>
                </a:solidFill>
                <a:latin typeface="Calibri"/>
              </a:defRPr>
              <a:buClr>
                <a:srgbClr val="B46A00"/>
              </a:buClr>
              <a:buChar char="•"/>
            </a:pPr>
            <a:r>
              <a:t>231.40 KB dynamic SMEM (3.5x more)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0" y="1097280"/>
            <a:ext cx="27432" cy="4114800"/>
          </a:xfrm>
          <a:prstGeom prst="rect">
            <a:avLst/>
          </a:prstGeom>
          <a:solidFill>
            <a:srgbClr val="777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828800" y="5029200"/>
            <a:ext cx="8503920" cy="91440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B4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800" b="1">
                <a:solidFill>
                  <a:srgbClr val="B46A00"/>
                </a:solidFill>
                <a:latin typeface="Calibri"/>
              </a:defRPr>
            </a:pPr>
            <a:r>
              <a:t>7x fewer global loads. TMA replaces legacy ld.global with hardware DMA.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31/37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SonicMoE — NCU Key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63040"/>
            <a:ext cx="73152" cy="914400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057A55"/>
                </a:solidFill>
                <a:latin typeface="Calibri"/>
              </a:defRPr>
            </a:pPr>
            <a:r>
              <a:t>The Occupancy Paradox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9"/>
              </a:spcAft>
              <a:defRPr sz="1700" b="0">
                <a:solidFill>
                  <a:srgbClr val="1A1A2E"/>
                </a:solidFill>
                <a:latin typeface="Calibri"/>
              </a:defRPr>
            </a:pPr>
            <a:r>
              <a:t>168 regs (47% more) + 231 KB SMEM (3.5x more) → 18.75% occupancy (63% better)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834640"/>
            <a:ext cx="73152" cy="91440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8346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0E6EB8"/>
                </a:solidFill>
                <a:latin typeface="Calibri"/>
              </a:defRPr>
            </a:pPr>
            <a:r>
              <a:t>TMA Dominance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9"/>
              </a:spcAft>
              <a:defRPr sz="1700" b="0">
                <a:solidFill>
                  <a:srgbClr val="1A1A2E"/>
                </a:solidFill>
                <a:latin typeface="Calibri"/>
              </a:defRPr>
            </a:pPr>
            <a:r>
              <a:t>30,720 TMA instructions vs 0 — hardware DMA replaces legacy loads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206240"/>
            <a:ext cx="73152" cy="914400"/>
          </a:xfrm>
          <a:prstGeom prst="rect">
            <a:avLst/>
          </a:prstGeom>
          <a:solidFill>
            <a:srgbClr val="B4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2062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B46A00"/>
                </a:solidFill>
                <a:latin typeface="Calibri"/>
              </a:defRPr>
            </a:pPr>
            <a:r>
              <a:t>IO-Awareness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6634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9"/>
              </a:spcAft>
              <a:defRPr sz="1700" b="0">
                <a:solidFill>
                  <a:srgbClr val="1A1A2E"/>
                </a:solidFill>
                <a:latin typeface="Calibri"/>
              </a:defRPr>
            </a:pPr>
            <a:r>
              <a:t>5 HBM round-trips → 2.  Global loads: 110K → 15K (7x reduction)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4864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40"/>
              </a:spcAft>
              <a:defRPr sz="1800" b="1">
                <a:solidFill>
                  <a:srgbClr val="B46A00"/>
                </a:solidFill>
                <a:latin typeface="Calibri"/>
              </a:defRPr>
            </a:pPr>
            <a:r>
              <a:t>"From Latency Issue to Balanced Throughput — that's the profile of a healthy kernel"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32/37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The Production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0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DGX Spark profiling: DeepGEMM accounts for 61.9% of GPU time in DeepSeek-V4-Flash inference</a:t>
            </a:r>
          </a:p>
          <a:p>
            <a:pPr algn="l">
              <a:spcAft>
                <a:spcPts val="800"/>
              </a:spcAft>
              <a:defRPr sz="20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SonicMoE beats DeepGEMM by 43% on forward pass for fine-grained MoEs (from their paper)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3840480"/>
            <a:ext cx="7589520" cy="91440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B4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400" b="1">
                <a:solidFill>
                  <a:srgbClr val="B46A00"/>
                </a:solidFill>
                <a:latin typeface="Calibri"/>
              </a:defRPr>
            </a:pPr>
            <a:r>
              <a:t>These GEMM kernels ARE the bottleneck in 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33/37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Summary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69848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286000"/>
                <a:gridCol w="2286000"/>
                <a:gridCol w="3566160"/>
              </a:tblGrid>
              <a:tr h="457200"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Speedup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NCU Insight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DeepGEMM FP8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JIT FP8 GEMM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3.09x vs bf16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67% compute, TMA-only data path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FlashAttention-3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Hopper attention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2.0–2.6x vs FA-2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WGMMA + TMA + warp specialization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SonicMoE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IO-aware MoE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1.82x vs ScatterMoE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Latency → Balanced, TMA + gather fusion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34/37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Takeaways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548640" cy="548640"/>
          </a:xfrm>
          <a:prstGeom prst="round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0E6EB8"/>
                </a:solidFill>
                <a:latin typeface="Calibri"/>
              </a:defRPr>
            </a:pPr>
            <a:r>
              <a:t>torch.profiler tells you WHAT happened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8288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600" b="0">
                <a:solidFill>
                  <a:srgbClr val="555555"/>
                </a:solidFill>
                <a:latin typeface="Calibri"/>
              </a:defRPr>
            </a:pPr>
            <a:r>
              <a:t>Open the trace in Perfetto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606040"/>
            <a:ext cx="548640" cy="548640"/>
          </a:xfrm>
          <a:prstGeom prst="round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6060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057A55"/>
                </a:solidFill>
                <a:latin typeface="Calibri"/>
              </a:defRPr>
            </a:pPr>
            <a:r>
              <a:t>Nsight Compute tells you 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0632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600" b="0">
                <a:solidFill>
                  <a:srgbClr val="555555"/>
                </a:solidFill>
                <a:latin typeface="Calibri"/>
              </a:defRPr>
            </a:pPr>
            <a:r>
              <a:t>Roofline, occupancy, memory throughput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840480"/>
            <a:ext cx="548640" cy="548640"/>
          </a:xfrm>
          <a:prstGeom prst="roundRect">
            <a:avLst/>
          </a:prstGeom>
          <a:solidFill>
            <a:srgbClr val="B4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8404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B46A00"/>
                </a:solidFill>
                <a:latin typeface="Calibri"/>
              </a:defRPr>
            </a:pPr>
            <a:r>
              <a:t>Kernel names are fingerprints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429768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600" b="0">
                <a:solidFill>
                  <a:srgbClr val="555555"/>
                </a:solidFill>
                <a:latin typeface="Calibri"/>
              </a:defRPr>
            </a:pPr>
            <a:r>
              <a:t>sm90, fp8, 1d2d, device_kernel, quackgemm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074920"/>
            <a:ext cx="548640" cy="54864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50749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1A1A2E"/>
                </a:solidFill>
                <a:latin typeface="Calibri"/>
              </a:defRPr>
            </a:pPr>
            <a:r>
              <a:t>Profile first. Then optimize. Then profile again.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35/37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Resources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0E6EB8"/>
                </a:solidFill>
                <a:latin typeface="Calibri"/>
              </a:defRPr>
            </a:pPr>
            <a:r>
              <a:t>▶  Workshop Repo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3716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0">
                <a:solidFill>
                  <a:srgbClr val="1A1A2E"/>
                </a:solidFill>
                <a:latin typeface="Calibri"/>
              </a:defRPr>
            </a:pPr>
            <a:r>
              <a:t>github.com/XAheli/torch-profiler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1945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0E6EB8"/>
                </a:solidFill>
                <a:latin typeface="Calibri"/>
              </a:defRPr>
            </a:pPr>
            <a:r>
              <a:t>▶  DeepGEMM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1945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0">
                <a:solidFill>
                  <a:srgbClr val="1A1A2E"/>
                </a:solidFill>
                <a:latin typeface="Calibri"/>
              </a:defRPr>
            </a:pPr>
            <a:r>
              <a:t>github.com/deepseek-ai/DeepGEMM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0175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057A55"/>
                </a:solidFill>
                <a:latin typeface="Calibri"/>
              </a:defRPr>
            </a:pPr>
            <a:r>
              <a:t>▶  FlashAttention-3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3017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0">
                <a:solidFill>
                  <a:srgbClr val="1A1A2E"/>
                </a:solidFill>
                <a:latin typeface="Calibri"/>
              </a:defRPr>
            </a:pPr>
            <a:r>
              <a:t>github.com/Dao-AILab/flash-attention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B46A00"/>
                </a:solidFill>
                <a:latin typeface="Calibri"/>
              </a:defRPr>
            </a:pPr>
            <a:r>
              <a:t>▶  SonicMoE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8404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0">
                <a:solidFill>
                  <a:srgbClr val="1A1A2E"/>
                </a:solidFill>
                <a:latin typeface="Calibri"/>
              </a:defRPr>
            </a:pPr>
            <a:r>
              <a:t>github.com/Dao-AILab/sonic-moe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6634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555555"/>
                </a:solidFill>
                <a:latin typeface="Calibri"/>
              </a:defRPr>
            </a:pPr>
            <a:r>
              <a:t>▶  Perfetto 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46634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0">
                <a:solidFill>
                  <a:srgbClr val="1A1A2E"/>
                </a:solidFill>
                <a:latin typeface="Calibri"/>
              </a:defRPr>
            </a:pPr>
            <a:r>
              <a:t>ui.perfetto.dev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5669280"/>
            <a:ext cx="10058400" cy="27432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852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40"/>
              </a:spcAft>
              <a:defRPr sz="1800" b="0">
                <a:solidFill>
                  <a:srgbClr val="555555"/>
                </a:solidFill>
                <a:latin typeface="Calibri"/>
              </a:defRPr>
            </a:pPr>
            <a:r>
              <a:t>Aheli Poddar  |  Red Hat PyTorch Team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36/37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How Fast Is Your Kernel, Really?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2926080"/>
            <a:ext cx="2103120" cy="36576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2918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80"/>
              </a:spcAft>
              <a:defRPr sz="3600" b="1">
                <a:solidFill>
                  <a:srgbClr val="0E6EB8"/>
                </a:solidFill>
                <a:latin typeface="Calibri"/>
              </a:defRPr>
            </a:pPr>
            <a: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20624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60"/>
              </a:spcAft>
              <a:defRPr sz="2200" b="0">
                <a:solidFill>
                  <a:srgbClr val="555555"/>
                </a:solidFill>
                <a:latin typeface="Calibri"/>
              </a:defRPr>
            </a:pPr>
            <a:r>
              <a:t>Aheli Poddar  |  Red Hat PyTorch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0292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40"/>
              </a:spcAft>
              <a:defRPr sz="2800" b="1">
                <a:solidFill>
                  <a:srgbClr val="B46A00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37/37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