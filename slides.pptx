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1887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320"/>
              </a:spcAft>
              <a:defRPr sz="44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37744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0E6EB8"/>
                </a:solidFill>
                <a:latin typeface="Calibri"/>
              </a:defRPr>
            </a:pPr>
            <a:r>
              <a:t>Profiling SOTA GPU Kernels with torch.profiler and Nsight Compute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3832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1A1A2E"/>
                </a:solidFill>
                <a:latin typeface="Calibri"/>
              </a:defRPr>
            </a:pPr>
            <a:r>
              <a:t>Aheli Poddar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02336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Associate Software Engineer, Red Hat PyTorch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IISC Bangalore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5303520"/>
            <a:ext cx="484632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057A55"/>
                </a:solidFill>
                <a:latin typeface="Calibri"/>
              </a:defRPr>
            </a:pPr>
            <a:r>
              <a:t>NVIDIA H200  •  SM 9.0  •  143 GB HBM3e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1/33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We’ll Cover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3291840" cy="457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DeepGEMM FP8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3.09x over bf16 cuBLAS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JIT-compiled FP8 GEMM</a:t>
            </a:r>
            <a:br/>
            <a:r>
              <a:t>from DeepSeek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463040"/>
            <a:ext cx="3291840" cy="4572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80559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663439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2.0–2.6x over FA-2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Hopper-native attention</a:t>
            </a:r>
            <a:br/>
            <a:r>
              <a:t>with WGMMA + TMA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463040"/>
            <a:ext cx="3291840" cy="4572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291840" cy="2926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SonicMoE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35 TFLOPS on H200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92608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IO-aware MoE kernels</a:t>
            </a:r>
            <a:br/>
            <a:r>
              <a:t>from Tri Dao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1A1A2E"/>
                </a:solidFill>
                <a:latin typeface="Calibri"/>
              </a:defRPr>
            </a:pPr>
            <a:r>
              <a:t>Each kernel:  Code  →  Perfetto Trace  →  NCU Deep Dive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2/33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Profiling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E6EB8"/>
                </a:solidFill>
                <a:latin typeface="Calibri"/>
              </a:defRPr>
            </a:pPr>
            <a:r>
              <a:t>torch.profiler</a:t>
            </a:r>
          </a:p>
        </p:txBody>
      </p:sp>
      <p:sp>
        <p:nvSpPr>
          <p:cNvPr id="5" name="Down Arrow 4"/>
          <p:cNvSpPr/>
          <p:nvPr/>
        </p:nvSpPr>
        <p:spPr>
          <a:xfrm>
            <a:off x="2286000" y="2514600"/>
            <a:ext cx="457200" cy="457200"/>
          </a:xfrm>
          <a:prstGeom prst="downArrow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Perfetto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Temporal view: WHEN kernels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4592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057A55"/>
                </a:solidFill>
                <a:latin typeface="Calibri"/>
              </a:defRPr>
            </a:pPr>
            <a:r>
              <a:t>Nsight Compute (ncu)</a:t>
            </a:r>
          </a:p>
        </p:txBody>
      </p:sp>
      <p:sp>
        <p:nvSpPr>
          <p:cNvPr id="9" name="Down Arrow 8"/>
          <p:cNvSpPr/>
          <p:nvPr/>
        </p:nvSpPr>
        <p:spPr>
          <a:xfrm>
            <a:off x="9418320" y="2514600"/>
            <a:ext cx="457200" cy="457200"/>
          </a:xfrm>
          <a:prstGeom prst="downArrow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3108960"/>
            <a:ext cx="32004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NCU GUI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023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Hardware view: HOW kernels use the GPU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5120640"/>
            <a:ext cx="7589520" cy="36576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539496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torch.profiler tells you WHAT happened.  NCU tells you WHY.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3/33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E6EB8"/>
                </a:solidFill>
                <a:latin typeface="Calibri"/>
              </a:defRPr>
            </a:pPr>
            <a:r>
              <a:t>KERNEL 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DeepGEMM: JIT-Compiled FP8 GEMM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59436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3.09x faster than bf16 cuBLAS on H200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4/33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is FP8?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80"/>
              </a:spcAft>
              <a:defRPr sz="2600" b="1">
                <a:solidFill>
                  <a:srgbClr val="1A1A2E"/>
                </a:solidFill>
                <a:latin typeface="Calibri"/>
              </a:defRPr>
            </a:pPr>
            <a:r>
              <a:t>E4M3 Format:  [S] [E E E E] [M M M]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3 mantissa bits — optimized for forward pass / inference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Block-scaled quantization: every 128 elements gets an FP32 scale factor</a:t>
            </a:r>
          </a:p>
          <a:p>
            <a:pPr algn="l">
              <a:spcAft>
                <a:spcPts val="800"/>
              </a:spcAft>
              <a:defRPr sz="18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Replaces the per-tensor scaling of classic INT8 quantization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4572000"/>
            <a:ext cx="75895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057A55"/>
                </a:solidFill>
                <a:latin typeface="Calibri"/>
              </a:defRPr>
            </a:pPr>
            <a:r>
              <a:t>2x Tensor Core throughput, half the data size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5/33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JIT compilation: first call compiles CUDA kernel, subsequent calls use cache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generate_normal → FP8 casting + TMA-aligned scale factors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transpose_fp32 helper: rearranges scale factors for TMA (padded stride 33 avoids bank conflicts)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fp8_gemm_nt → sm90_fp8_gemm_1d2d_impl kernel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generate_normal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transpose_fp32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59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0E6E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0" y="4754880"/>
            <a:ext cx="201168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sm90_fp8_gemm_1d2d_impl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6/33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 Trace</a:t>
            </a:r>
          </a:p>
        </p:txBody>
      </p:sp>
      <p:pic>
        <p:nvPicPr>
          <p:cNvPr id="4" name="Picture 3" descr="Screenshot_From_2026-08-24_17-27-37-01a619c7-3129-4eec-a8c1-a6f5c64a50b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CPU lane: fp8_deepgemm annotation → GPU lane: transpose_fp32 + sm90_fp8_gemm_1d2d_impl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20"/>
              </a:spcAft>
              <a:defRPr sz="1400" b="0">
                <a:solidFill>
                  <a:srgbClr val="B46A00"/>
                </a:solidFill>
                <a:latin typeface="Calibri"/>
              </a:defRPr>
            </a:pPr>
            <a:r>
              <a:t>Look for: ProfilerStep#2/3/4, kernel names, CPU-GPU gap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7/33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Perfetto: bf16 Baseline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292608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Perfetto bf16 trace]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onsolas"/>
              </a:defRPr>
            </a:pPr>
            <a:r>
              <a:t>CPU: bf16_matmul → aten::matmul → aten::mm</a:t>
            </a:r>
          </a:p>
          <a:p>
            <a:pPr algn="l">
              <a:defRPr sz="1600" b="0">
                <a:solidFill>
                  <a:srgbClr val="1A1A2E"/>
                </a:solidFill>
                <a:latin typeface="Consolas"/>
              </a:defRPr>
            </a:pPr>
            <a:r>
              <a:t>GPU: nvjet_tst_256x128_64x4_1x2_h_bz_coopA_NNT</a:t>
            </a:r>
          </a:p>
          <a:p>
            <a:pPr algn="l">
              <a:defRPr sz="1600" b="1">
                <a:solidFill>
                  <a:srgbClr val="B46A00"/>
                </a:solidFill>
                <a:latin typeface="Calibri"/>
              </a:defRPr>
            </a:pPr>
            <a:r>
              <a:t>3 ProfilerSteps × ~300µs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8/33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Perfetto: FP8 Trace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292608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Perfetto FP8 trace]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onsolas"/>
              </a:defRPr>
            </a:pPr>
            <a:r>
              <a:t>CPU: fp8_deepgemm annotation</a:t>
            </a:r>
          </a:p>
          <a:p>
            <a:pPr algn="l">
              <a:defRPr sz="1600" b="0">
                <a:solidFill>
                  <a:srgbClr val="1A1A2E"/>
                </a:solidFill>
                <a:latin typeface="Consolas"/>
              </a:defRPr>
            </a:pPr>
            <a:r>
              <a:t>GPU: transpose_fp32 (8µs) + sm90_fp8_gemm_1d2d_impl (~195µs)</a:t>
            </a:r>
          </a:p>
          <a:p>
            <a:pPr algn="l">
              <a:defRPr sz="1500" b="1">
                <a:solidFill>
                  <a:srgbClr val="B46A00"/>
                </a:solidFill>
                <a:latin typeface="Calibri"/>
              </a:defRPr>
            </a:pPr>
            <a:r>
              <a:t>Note: transpose_fp32 has padded stride 33 to avoid SMEM bank conflicts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9/33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Reading Kernel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E6EB8"/>
                </a:solidFill>
                <a:latin typeface="Calibri"/>
              </a:defRPr>
            </a:pPr>
            <a:r>
              <a:t>bf16 cuBLAS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59"/>
              </a:spcAft>
              <a:defRPr sz="1200" b="0">
                <a:solidFill>
                  <a:srgbClr val="1A1A2E"/>
                </a:solidFill>
                <a:latin typeface="Consolas"/>
              </a:defRPr>
            </a:pPr>
            <a:r>
              <a:t>nvjet_tst_256x128_64x4_1x2_h_bz_coopA_NNT</a:t>
            </a:r>
          </a:p>
          <a:p>
            <a:pPr algn="l">
              <a:defRPr sz="1200" b="0">
                <a:solidFill>
                  <a:srgbClr val="1A1A2E"/>
                </a:solidFill>
                <a:latin typeface="Consolas"/>
              </a:defRPr>
            </a:pP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nvjet       = NVIDIA JetBLAS (Hopper cuBLAS)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tst         = tensor-sparse-tensor variant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256x128     = CTA tile (rows × cols)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64x4        = 64 K-tile × 4 pipeline stages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1x2         = warp arrangement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h           = Hopper architecture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bz          = block-zero optimization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coopA       = cooperative launch on A</a:t>
            </a:r>
          </a:p>
          <a:p>
            <a:pPr algn="l">
              <a:defRPr sz="1200" b="0">
                <a:solidFill>
                  <a:srgbClr val="555555"/>
                </a:solidFill>
                <a:latin typeface="Consolas"/>
              </a:defRPr>
            </a:pPr>
            <a:r>
              <a:t>NNT         = layout (A=row, B=row, out=col)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57A55"/>
                </a:solidFill>
                <a:latin typeface="Calibri"/>
              </a:defRPr>
            </a:pPr>
            <a:r>
              <a:t>FP8 DeepGEMM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90"/>
              </a:spcAft>
              <a:defRPr sz="1300" b="0">
                <a:solidFill>
                  <a:srgbClr val="1A1A2E"/>
                </a:solidFill>
                <a:latin typeface="Consolas"/>
              </a:defRPr>
            </a:pPr>
            <a:r>
              <a:t>sm90_fp8_gemm_1d2d_impl</a:t>
            </a:r>
          </a:p>
          <a:p>
            <a:pPr algn="l">
              <a:defRPr sz="1300" b="0">
                <a:solidFill>
                  <a:srgbClr val="1A1A2E"/>
                </a:solidFill>
                <a:latin typeface="Consolas"/>
              </a:defRPr>
            </a:pP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sm90  = Hopper SM 9.0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fp8   = FP8 precision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gemm  = General Matrix Multiply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1d    = 1D scale on A (per-token)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2d    = 2D scale on B (per-128×128 block)</a:t>
            </a:r>
          </a:p>
          <a:p>
            <a:pPr algn="l">
              <a:defRPr sz="1300" b="0">
                <a:solidFill>
                  <a:srgbClr val="555555"/>
                </a:solidFill>
                <a:latin typeface="Consolas"/>
              </a:defRPr>
            </a:pPr>
            <a:r>
              <a:t>impl  = implementation kernel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371600"/>
            <a:ext cx="27432" cy="457200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10/33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371600"/>
          <a:ext cx="941832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880360"/>
                <a:gridCol w="28803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bf16 cuBLAS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375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251 µs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Compute Throughput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91.6%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67.1%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Throughput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70.7%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54.5%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TMA Instructions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344K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59K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Memory BW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969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543 GB/s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Wallclock (profiler)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~600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~195 µs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bf16 is more efficient.  FP8 is faster.</a:t>
            </a:r>
            <a:br/>
            <a:r>
              <a:t>Why?  2x Tensor Core FLOPS + half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11/33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bf16 GEMM — Speed of 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320040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bf16 Speed of Light chart]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91.6% Compute Throughput — this is what ‘good’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NCU flags: “High Throughput — utilizing greater than 80%”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12/33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DeepGEMM FP8 — Speed of 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320040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FP8 Speed of Light chart]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67.1% Compute, 54.5% Memory — compute-bound with scale factor overhead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13/33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Memory Data Path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bf16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TMA: 344K instructions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Data: 2.82 GB through pipeline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DSMEM: 382 instructions (uses SM clusters)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Memory BW: 969 GB/s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530352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bf16 memory diagram]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FP8 DeepGEMM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TMA: 59K instructions (6x fewer)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Data: 1.44 GB (half the data)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DSMEM: 0 (no cross-SM sharing)</a:t>
            </a:r>
          </a:p>
          <a:p>
            <a:pPr algn="l"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  <a:buClr>
                <a:srgbClr val="057A55"/>
              </a:buClr>
              <a:buChar char="•"/>
            </a:pPr>
            <a:r>
              <a:t>Memory BW: 543 GB/s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657600"/>
            <a:ext cx="5303520" cy="256032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FP8 memory diagram]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097280"/>
            <a:ext cx="27432" cy="5303520"/>
          </a:xfrm>
          <a:prstGeom prst="rect">
            <a:avLst/>
          </a:prstGeom>
          <a:solidFill>
            <a:srgbClr val="7777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14/33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NCU: Occupancy — Both Kernels Are Resource-Heavy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188720"/>
          <a:ext cx="941832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651760"/>
                <a:gridCol w="26517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bf16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FP8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Registers/Thread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Dynamic SMEM/Block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213 KB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216 KB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Theoretical Occupancy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18.75%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18.75%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Achieved Occupancy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14.72%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14.00%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Block Limit (Registers)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Block Limit (Shared Mem)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Grid Size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132 (= 132 SMs)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Cluster Size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5778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Both kernels use maximum on-chip resources. 1 block per SM. Low occupancy by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15/33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DeepGEMM — NCU Key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63040"/>
            <a:ext cx="73152" cy="91440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Barrier Stalls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4.3 cycles/warp (32.95% est. speedup)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73152" cy="9144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Occupancy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14% achieved (18.75% theoretical) — limited by 168 regs + 216 KB SMEM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206240"/>
            <a:ext cx="73152" cy="9144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Shared Store Bank Conflicts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FP8: 12.55% vs bf16: 8.65% — FP8 pays extra for scale factor stores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48640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1">
                <a:solidFill>
                  <a:srgbClr val="B46A00"/>
                </a:solidFill>
                <a:latin typeface="Calibri"/>
              </a:defRPr>
            </a:pPr>
            <a:r>
              <a:t>"The scale factor overhead is the price of FP8 quantization"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16/33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057A55"/>
                </a:solidFill>
                <a:latin typeface="Calibri"/>
              </a:defRPr>
            </a:pPr>
            <a:r>
              <a:t>KERNEL 2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FlashAttention-3: Hopper-Native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github.com/Dao-AILab/flash-attention  (hopper/)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2.0–2.6x faster than FA-2 across all sequence lengths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17/33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What Changed from FA-2 to FA-3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WGMMA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74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Warp Group MMA: larger Tensor Core tiles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5176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517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Tensor Memory Accelerator: async bulk HBM → SMEM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Warp Specialization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51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1A1A2E"/>
                </a:solidFill>
                <a:latin typeface="Calibri"/>
              </a:defRPr>
            </a:pPr>
            <a:r>
              <a:t>Producer warps (TMA) overlap with consumer warps (WGMMA)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1A1A2E"/>
                </a:solidFill>
                <a:latin typeface="Calibri"/>
              </a:defRPr>
            </a:pPr>
            <a:r>
              <a:t>Plus: Ping-pong scheduling overlaps GEMM and softmax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18/33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vs FA-2 — Scaling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828800" y="1371600"/>
          <a:ext cx="8503920" cy="208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945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Seq Length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FA-2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FA-3 (ms)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512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0.059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0.031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1.89x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0.980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0.474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2.07x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4096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3.698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1.667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2.22x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8192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14.054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6.593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2.13x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8463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Consistent 2x across all sequence lengths — not a one-off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19/33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Kernel Names Tell the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502920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flash_fwd_kernel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Hand-written CUDA kernel, vendored in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555555"/>
                </a:solidFill>
                <a:latin typeface="Calibri"/>
              </a:defRPr>
            </a:pPr>
            <a:r>
              <a:t>FlashAttention-3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502920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800" b="1">
                <a:solidFill>
                  <a:srgbClr val="1A1A2E"/>
                </a:solidFill>
                <a:latin typeface="Calibri"/>
              </a:defRPr>
            </a:pPr>
            <a:r>
              <a:t>device_kernel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  <a:defRPr sz="1400" b="0">
                <a:solidFill>
                  <a:srgbClr val="555555"/>
                </a:solidFill>
                <a:latin typeface="Calibri"/>
              </a:defRPr>
            </a:pPr>
            <a:r>
              <a:t>CUTLASS 3.x CuTeDSL template, Hopper-native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286000"/>
            <a:ext cx="1097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80"/>
              </a:spcAft>
              <a:defRPr sz="36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7548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"The name change reflects the architecture shift:</a:t>
            </a:r>
            <a:br/>
            <a:r>
              <a:t>from hand-tuned to template-generated"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20/33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FA-2 trace (flash_fwd_kernel)  vs  FA-3 trace (device_kernel)</a:t>
            </a:r>
            <a:br/>
            <a:r>
              <a:t>Same attention, different kernel, 2x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21/33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FA-3 — NCU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FA-2 vs FA-3]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Compare: occupancy, warp stalls, memory throughput between FA-2 and FA-3 kernels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22/33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1">
                <a:solidFill>
                  <a:srgbClr val="B46A00"/>
                </a:solidFill>
                <a:latin typeface="Calibri"/>
              </a:defRPr>
            </a:pPr>
            <a:r>
              <a:t>KERNEL 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SonicMoE: IO-Aware MoE Kernels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github.com/Dao-AILab/sonic-moe  (Tri Dao, Princeton / Together AI)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389120"/>
            <a:ext cx="73152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B46A00"/>
                </a:solidFill>
                <a:latin typeface="Calibri"/>
              </a:defRPr>
            </a:pPr>
            <a:r>
              <a:t>45% less activation memory, 1.86x faster than ScatterMoE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23/33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Why MoE Kernels Are Hard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Each expert processes a variable number of tokens (varlen-M Grouped GEMM)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Fine-grained MoEs: small expert size → IO-bound, not compute-bound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Standard approach: gather tokens → pad → GEMM → scatter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Gather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Pad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GEMM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2976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4206240"/>
            <a:ext cx="1280160" cy="64008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1600" b="1">
                <a:solidFill>
                  <a:srgbClr val="1A1A2E"/>
                </a:solidFill>
                <a:latin typeface="Calibri"/>
              </a:defRPr>
            </a:pPr>
            <a:r>
              <a:t>Scatter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03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"The IO cost scales linearly with expert granularity"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24/33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SonicMoE’s Key Innovations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Gather 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Token gather fused with GEMM prologue (no separate kernel)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834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Ping-Pong Scheduling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291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Overlap epilogue IO with next tile’s MMA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20624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4206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Epilogue Fusion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9"/>
              </a:spcAft>
              <a:defRPr sz="1700" b="0">
                <a:solidFill>
                  <a:srgbClr val="1A1A2E"/>
                </a:solidFill>
                <a:latin typeface="Calibri"/>
              </a:defRPr>
            </a:pPr>
            <a:r>
              <a:t>SwiGLU + dS + A′ computed in GEMM epilogue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5212080"/>
            <a:ext cx="667512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57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200" b="1">
                <a:solidFill>
                  <a:srgbClr val="057A55"/>
                </a:solidFill>
                <a:latin typeface="Calibri"/>
              </a:defRPr>
            </a:pPr>
            <a:r>
              <a:t>Result: IO is hidden behind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25/33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Profiler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Configuration: E=128, K=8, d=1536, n=256 (7B MoE)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3657600" cy="73152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B46A00"/>
                </a:solidFill>
                <a:latin typeface="Calibri"/>
              </a:defRPr>
            </a:pPr>
            <a:r>
              <a:t>35 TFLOPS on H200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1">
                <a:solidFill>
                  <a:srgbClr val="0E6EB8"/>
                </a:solidFill>
                <a:latin typeface="Calibri"/>
              </a:defRPr>
            </a:pPr>
            <a:r>
              <a:t>Key Kernels: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49039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quackgemm_actGemmGatedSm90  (up projection + SwiGLU fused)</a:t>
            </a:r>
          </a:p>
          <a:p>
            <a:pPr algn="l">
              <a:spcAft>
                <a:spcPts val="800"/>
              </a:spcAft>
              <a:defRPr sz="17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quackgemm_default_epiGemmDefaultSm90  (down projection)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30352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70"/>
              </a:spcAft>
              <a:defRPr sz="1900" b="1">
                <a:solidFill>
                  <a:srgbClr val="B46A00"/>
                </a:solidFill>
                <a:latin typeface="Calibri"/>
              </a:defRPr>
            </a:pPr>
            <a:r>
              <a:t>"Two GEMM kernels with fused activation — that’s the entire MoE forward"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26/33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Perfetto Trace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2286000"/>
            <a:ext cx="8534095" cy="320040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E6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0"/>
          <a:lstStyle/>
          <a:p>
            <a:pPr algn="ctr">
              <a:spcAft>
                <a:spcPts val="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[LIVE DEMO — Perfetto UI]</a:t>
            </a:r>
            <a:br/>
            <a:br/>
            <a:r>
              <a:t>sonicmoe_forward annotation, two GEMM kernels, routing overhead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27/33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SonicMoE — NCU Details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4114800"/>
          </a:xfrm>
          <a:prstGeom prst="rect">
            <a:avLst/>
          </a:prstGeom>
          <a:solidFill>
            <a:srgbClr val="E8EEF4"/>
          </a:solidFill>
          <a:ln w="25400">
            <a:solidFill>
              <a:srgbClr val="777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777777"/>
                </a:solidFill>
                <a:latin typeface="Calibri"/>
              </a:defRPr>
            </a:pPr>
            <a:r>
              <a:t>[SCREENSHOT: NCU SonicMoE kernel]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quackgemm kernel: occupancy, memory throughput, warp stall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28/33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The Production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DGX Spark profiling: DeepGEMM accounts for 61.9% of GPU time in DeepSeek-V4-Flash inference</a:t>
            </a:r>
          </a:p>
          <a:p>
            <a:pPr algn="l">
              <a:spcAft>
                <a:spcPts val="800"/>
              </a:spcAft>
              <a:defRPr sz="2000">
                <a:solidFill>
                  <a:srgbClr val="1A1A2E"/>
                </a:solidFill>
                <a:latin typeface="Calibri"/>
              </a:defRPr>
              <a:buClr>
                <a:srgbClr val="0E6EB8"/>
              </a:buClr>
              <a:buChar char="•"/>
            </a:pPr>
            <a:r>
              <a:t>SonicMoE beats DeepGEMM by 43% on forward pass for fine-grained MoEs (from their paper)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840480"/>
            <a:ext cx="7589520" cy="9144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B46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400" b="1">
                <a:solidFill>
                  <a:srgbClr val="B46A00"/>
                </a:solidFill>
                <a:latin typeface="Calibri"/>
              </a:defRPr>
            </a:pPr>
            <a:r>
              <a:t>These GEMM kernels ARE the bottleneck in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29/33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69848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286000"/>
                <a:gridCol w="3566160"/>
              </a:tblGrid>
              <a:tr h="457200"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Kernel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Speedup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NCU Insight</a:t>
                      </a:r>
                    </a:p>
                  </a:txBody>
                  <a:tcPr anchor="ctr">
                    <a:solidFill>
                      <a:srgbClr val="0E6EB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DeepGEMM FP8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JIT FP8 GEMM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3.09x vs bf16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67% compute, TMA-only data path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FlashAttention-3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Hopper attention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2.0–2.6x vs FA-2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WGMMA + TMA + warp specialization</a:t>
                      </a:r>
                    </a:p>
                  </a:txBody>
                  <a:tcPr anchor="ctr">
                    <a:solidFill>
                      <a:srgbClr val="E8EEF4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06400"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SonicMoE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IO-aware MoE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35 TFLOPS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lIns="76200" rIns="76200"/>
                    <a:lstStyle/>
                    <a:p>
                      <a:pPr algn="ctr">
                        <a:defRPr sz="13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Gather fusion + ping-pong scheduling</a:t>
                      </a:r>
                    </a:p>
                  </a:txBody>
                  <a:tcPr anchor="ctr">
                    <a:solidFill>
                      <a:srgbClr val="F0F4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30/33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548640" cy="548640"/>
          </a:xfrm>
          <a:prstGeom prst="round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E6EB8"/>
                </a:solidFill>
                <a:latin typeface="Calibri"/>
              </a:defRPr>
            </a:pPr>
            <a:r>
              <a:t>torch.profiler tells you 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Open the trace in Perfetto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606040"/>
            <a:ext cx="548640" cy="548640"/>
          </a:xfrm>
          <a:prstGeom prst="roundRect">
            <a:avLst/>
          </a:prstGeom>
          <a:solidFill>
            <a:srgbClr val="057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6060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057A55"/>
                </a:solidFill>
                <a:latin typeface="Calibri"/>
              </a:defRPr>
            </a:pPr>
            <a:r>
              <a:t>Nsight Compute tells you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306324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Roofline, occupancy, memory throughput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548640" cy="548640"/>
          </a:xfrm>
          <a:prstGeom prst="roundRect">
            <a:avLst/>
          </a:prstGeom>
          <a:solidFill>
            <a:srgbClr val="B46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8404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B46A00"/>
                </a:solidFill>
                <a:latin typeface="Calibri"/>
              </a:defRPr>
            </a:pPr>
            <a:r>
              <a:t>Kernel names are fingerprints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2976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0"/>
              </a:spcAft>
              <a:defRPr sz="1600" b="0">
                <a:solidFill>
                  <a:srgbClr val="555555"/>
                </a:solidFill>
                <a:latin typeface="Calibri"/>
              </a:defRPr>
            </a:pPr>
            <a:r>
              <a:t>sm90, fp8, 1d2d, device_kernel, quackgemm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74920"/>
            <a:ext cx="548640" cy="54864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6200" bIns="76200"/>
          <a:lstStyle/>
          <a:p>
            <a:pPr algn="ctr">
              <a:defRPr sz="2000" b="1">
                <a:solidFill>
                  <a:srgbClr val="1A1A2E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0749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60"/>
              </a:spcAft>
              <a:defRPr sz="2200" b="1">
                <a:solidFill>
                  <a:srgbClr val="1A1A2E"/>
                </a:solidFill>
                <a:latin typeface="Calibri"/>
              </a:defRPr>
            </a:pPr>
            <a:r>
              <a:t>Profile first. Then optimize. Then profile again.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31/33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74320"/>
            <a:ext cx="109728" cy="502920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60"/>
              </a:spcAft>
              <a:defRPr sz="3200" b="1">
                <a:solidFill>
                  <a:srgbClr val="0E6EB8"/>
                </a:solidFill>
                <a:latin typeface="Calibri"/>
              </a:defRPr>
            </a:pPr>
            <a:r>
              <a:t>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Workshop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github.com/XAheli/torch-profiler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945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E6EB8"/>
                </a:solidFill>
                <a:latin typeface="Calibri"/>
              </a:defRPr>
            </a:pPr>
            <a:r>
              <a:t>▶  DeepGEMM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github.com/deepseek-ai/DeepGEMM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057A55"/>
                </a:solidFill>
                <a:latin typeface="Calibri"/>
              </a:defRPr>
            </a:pPr>
            <a:r>
              <a:t>▶  FlashAttention-3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github.com/Dao-AILab/flash-attention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8404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46A00"/>
                </a:solidFill>
                <a:latin typeface="Calibri"/>
              </a:defRPr>
            </a:pPr>
            <a:r>
              <a:t>▶  SonicMoE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8404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github.com/Dao-AILab/sonic-moe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634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555555"/>
                </a:solidFill>
                <a:latin typeface="Calibri"/>
              </a:defRPr>
            </a:pPr>
            <a:r>
              <a:t>▶  Perfetto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663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40"/>
              </a:spcAft>
              <a:defRPr sz="1800" b="0">
                <a:solidFill>
                  <a:srgbClr val="1A1A2E"/>
                </a:solidFill>
                <a:latin typeface="Calibri"/>
              </a:defRPr>
            </a:pPr>
            <a:r>
              <a:t>ui.perfetto.dev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669280"/>
            <a:ext cx="10058400" cy="27432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540"/>
              </a:spcAft>
              <a:defRPr sz="1800" b="0">
                <a:solidFill>
                  <a:srgbClr val="555555"/>
                </a:solidFill>
                <a:latin typeface="Calibri"/>
              </a:defRPr>
            </a:pPr>
            <a:r>
              <a:t>Aheli Poddar  |  Red Hat PyTorch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32/33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How Fast Is Your Kernel, Really?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926080"/>
            <a:ext cx="2103120" cy="36576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80"/>
              </a:spcAft>
              <a:defRPr sz="3600" b="1">
                <a:solidFill>
                  <a:srgbClr val="0E6EB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60"/>
              </a:spcAft>
              <a:defRPr sz="2200" b="0">
                <a:solidFill>
                  <a:srgbClr val="555555"/>
                </a:solidFill>
                <a:latin typeface="Calibri"/>
              </a:defRPr>
            </a:pPr>
            <a:r>
              <a:t>Aheli Poddar  |  Red Hat PyTorch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40"/>
              </a:spcAft>
              <a:defRPr sz="2800" b="1">
                <a:solidFill>
                  <a:srgbClr val="B46A00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E6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30"/>
              </a:spcAft>
              <a:defRPr sz="1100" b="0">
                <a:solidFill>
                  <a:srgbClr val="777777"/>
                </a:solidFill>
                <a:latin typeface="Calibri"/>
              </a:defRPr>
            </a:pPr>
            <a:r>
              <a:t>33/33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