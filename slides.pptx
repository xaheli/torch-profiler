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1887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320"/>
              </a:spcAft>
              <a:defRPr sz="4400" b="1">
                <a:solidFill>
                  <a:srgbClr val="1A1A2E"/>
                </a:solidFill>
                <a:latin typeface="Calibri"/>
              </a:defRPr>
            </a:pPr>
            <a:r>
              <a:t>How Fast Is Your Kernel, Really?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3774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0">
                <a:solidFill>
                  <a:srgbClr val="0E6EB8"/>
                </a:solidFill>
                <a:latin typeface="Calibri"/>
              </a:defRPr>
            </a:pPr>
            <a:r>
              <a:t>Profiling SOTA GPU Kernels with torch.profiler and Nsight Compute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383280"/>
            <a:ext cx="2103120" cy="36576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6576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0">
                <a:solidFill>
                  <a:srgbClr val="555555"/>
                </a:solidFill>
                <a:latin typeface="Calibri"/>
              </a:defRPr>
            </a:pPr>
            <a:r>
              <a:t>Red Hat PyTorch Team  |  IISC Bangalore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4754880"/>
            <a:ext cx="4846320" cy="6400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600" b="1">
                <a:solidFill>
                  <a:srgbClr val="057A55"/>
                </a:solidFill>
                <a:latin typeface="Calibri"/>
              </a:defRPr>
            </a:pPr>
            <a:r>
              <a:t>NVIDIA H200  •  SM 9.0  •  143 GB HBM3e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1/24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What We’ll Cover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3291840" cy="457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29260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1">
                <a:solidFill>
                  <a:srgbClr val="0E6EB8"/>
                </a:solidFill>
                <a:latin typeface="Calibri"/>
              </a:defRPr>
            </a:pPr>
            <a:r>
              <a:t>DeepGEMM FP8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1">
                <a:solidFill>
                  <a:srgbClr val="1A1A2E"/>
                </a:solidFill>
                <a:latin typeface="Calibri"/>
              </a:defRPr>
            </a:pPr>
            <a:r>
              <a:t>3.09x over bf16 cuBLAS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JIT-compiled FP8 GEMM</a:t>
            </a:r>
            <a:br/>
            <a:r>
              <a:t>from DeepSeek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59" y="1463040"/>
            <a:ext cx="3291840" cy="4572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80559" y="1554480"/>
            <a:ext cx="3291840" cy="29260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663439" y="17373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1">
                <a:solidFill>
                  <a:srgbClr val="057A55"/>
                </a:solidFill>
                <a:latin typeface="Calibri"/>
              </a:defRPr>
            </a:pPr>
            <a:r>
              <a:t>FlashAttention-3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39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1">
                <a:solidFill>
                  <a:srgbClr val="1A1A2E"/>
                </a:solidFill>
                <a:latin typeface="Calibri"/>
              </a:defRPr>
            </a:pPr>
            <a:r>
              <a:t>2.0–2.6x over FA-2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39" y="2926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Hopper-native attention</a:t>
            </a:r>
            <a:br/>
            <a:r>
              <a:t>with WGMMA + TMA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463040"/>
            <a:ext cx="3291840" cy="45720"/>
          </a:xfrm>
          <a:prstGeom prst="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1554480"/>
            <a:ext cx="3291840" cy="29260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412480" y="17373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1">
                <a:solidFill>
                  <a:srgbClr val="B46A00"/>
                </a:solidFill>
                <a:latin typeface="Calibri"/>
              </a:defRPr>
            </a:pPr>
            <a:r>
              <a:t>SonicMoE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1">
                <a:solidFill>
                  <a:srgbClr val="1A1A2E"/>
                </a:solidFill>
                <a:latin typeface="Calibri"/>
              </a:defRPr>
            </a:pPr>
            <a:r>
              <a:t>35 TFLOPS on H200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926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IO-aware MoE kernels</a:t>
            </a:r>
            <a:br/>
            <a:r>
              <a:t>from Tri Dao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29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A1A2E"/>
                </a:solidFill>
                <a:latin typeface="Calibri"/>
              </a:defRPr>
            </a:pPr>
            <a:r>
              <a:t>Each kernel:  Code  →  Perfetto Trace  →  NCU Deep Dive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2/24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The Profiling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3200400" cy="73152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0E6EB8"/>
                </a:solidFill>
                <a:latin typeface="Calibri"/>
              </a:defRPr>
            </a:pPr>
            <a:r>
              <a:t>torch.profiler</a:t>
            </a:r>
          </a:p>
        </p:txBody>
      </p:sp>
      <p:sp>
        <p:nvSpPr>
          <p:cNvPr id="5" name="Down Arrow 4"/>
          <p:cNvSpPr/>
          <p:nvPr/>
        </p:nvSpPr>
        <p:spPr>
          <a:xfrm>
            <a:off x="2286000" y="2514600"/>
            <a:ext cx="457200" cy="457200"/>
          </a:xfrm>
          <a:prstGeom prst="downArrow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3108960"/>
            <a:ext cx="3200400" cy="73152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Perfetto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Temporal view: WHEN kernels run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00400" cy="73152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057A55"/>
                </a:solidFill>
                <a:latin typeface="Calibri"/>
              </a:defRPr>
            </a:pPr>
            <a:r>
              <a:t>Nsight Compute (ncu)</a:t>
            </a:r>
          </a:p>
        </p:txBody>
      </p:sp>
      <p:sp>
        <p:nvSpPr>
          <p:cNvPr id="9" name="Down Arrow 8"/>
          <p:cNvSpPr/>
          <p:nvPr/>
        </p:nvSpPr>
        <p:spPr>
          <a:xfrm>
            <a:off x="9418320" y="2514600"/>
            <a:ext cx="457200" cy="457200"/>
          </a:xfrm>
          <a:prstGeom prst="downArrow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0" y="3108960"/>
            <a:ext cx="3200400" cy="73152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NCU GUI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4023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Hardware view: HOW kernels use the GPU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5120640"/>
            <a:ext cx="7589520" cy="36576"/>
          </a:xfrm>
          <a:prstGeom prst="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539496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1">
                <a:solidFill>
                  <a:srgbClr val="B46A00"/>
                </a:solidFill>
                <a:latin typeface="Calibri"/>
              </a:defRPr>
            </a:pPr>
            <a:r>
              <a:t>torch.profiler tells you WHAT happened.  NCU tells you WHY.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0E6EB8"/>
                </a:solidFill>
                <a:latin typeface="Calibri"/>
              </a:defRPr>
            </a:pPr>
            <a:r>
              <a:t>KERNEL 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DeepGEMM: JIT-Compiled FP8 GEMM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555555"/>
                </a:solidFill>
                <a:latin typeface="Calibri"/>
              </a:defRPr>
            </a:pPr>
            <a:r>
              <a:t>github.com/deepseek-ai/DeepGEMM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389120"/>
            <a:ext cx="5943600" cy="73152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200" b="1">
                <a:solidFill>
                  <a:srgbClr val="057A55"/>
                </a:solidFill>
                <a:latin typeface="Calibri"/>
              </a:defRPr>
            </a:pPr>
            <a:r>
              <a:t>3.09x faster than bf16 cuBLAS on H200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4/24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What is FP8?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80"/>
              </a:spcAft>
              <a:defRPr sz="2600" b="1">
                <a:solidFill>
                  <a:srgbClr val="1A1A2E"/>
                </a:solidFill>
                <a:latin typeface="Calibri"/>
              </a:defRPr>
            </a:pPr>
            <a:r>
              <a:t>E4M3 Format:  [S] [E E E E] [M M M]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8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3 mantissa bits — optimized for forward pass / inference</a:t>
            </a:r>
          </a:p>
          <a:p>
            <a:pPr algn="l">
              <a:spcAft>
                <a:spcPts val="800"/>
              </a:spcAft>
              <a:defRPr sz="18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Block-scaled quantization: every 128 elements gets an FP32 scale factor</a:t>
            </a:r>
          </a:p>
          <a:p>
            <a:pPr algn="l">
              <a:spcAft>
                <a:spcPts val="800"/>
              </a:spcAft>
              <a:defRPr sz="18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Replaces the per-tensor scaling of classic INT8 quantization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4572000"/>
            <a:ext cx="7589520" cy="9144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400" b="1">
                <a:solidFill>
                  <a:srgbClr val="057A55"/>
                </a:solidFill>
                <a:latin typeface="Calibri"/>
              </a:defRPr>
            </a:pPr>
            <a:r>
              <a:t>2x Tensor Core throughput, half the data size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5/24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DeepGEMM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JIT compilation: first call compiles CUDA kernel, subsequent calls use cache</a:t>
            </a:r>
          </a:p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generate_normal → FP8 casting + TMA-aligned scale factors</a:t>
            </a:r>
          </a:p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transpose_fp32 helper: rearranges scale factors for TMA (padded stride 33 avoids bank conflicts)</a:t>
            </a:r>
          </a:p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fp8_gemm_nt → sm90_fp8_gemm_1d2d_impl kernel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754880"/>
            <a:ext cx="2011680" cy="6400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generate_normal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484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40"/>
              </a:spcAft>
              <a:defRPr sz="2800" b="1">
                <a:solidFill>
                  <a:srgbClr val="0E6E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4754880"/>
            <a:ext cx="2011680" cy="6400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transpose_fp32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59" y="484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40"/>
              </a:spcAft>
              <a:defRPr sz="2800" b="1">
                <a:solidFill>
                  <a:srgbClr val="0E6E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754880"/>
            <a:ext cx="2011680" cy="6400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sm90_fp8_gemm_1d2d_impl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6/24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DeepGEMM — Perfetto Trace</a:t>
            </a:r>
          </a:p>
        </p:txBody>
      </p:sp>
      <p:pic>
        <p:nvPicPr>
          <p:cNvPr id="4" name="Picture 3" descr="Screenshot_From_2026-08-24_17-27-37-01a619c7-3129-4eec-a8c1-a6f5c64a50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6984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CPU lane: fp8_deepgemm annotation → GPU lane: transpose_fp32 + sm90_fp8_gemm_1d2d_impl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B46A00"/>
                </a:solidFill>
                <a:latin typeface="Calibri"/>
              </a:defRPr>
            </a:pPr>
            <a:r>
              <a:t>Look for: ProfilerStep#2/3/4, kernel names, CPU-GPU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7/24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DeepGEMM — NCU Comparison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371600"/>
          <a:ext cx="941832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880360"/>
                <a:gridCol w="2880360"/>
              </a:tblGrid>
              <a:tr h="457200"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bf16 cuBLAS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DeepGEMM FP8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375 µs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251 µs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Compute Throughput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91.6%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67.1%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Memory Throughput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70.7%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54.5%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TMA Instructions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344K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59K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Memory BW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969 GB/s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543 GB/s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Wallclock (profiler)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~600 µs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~195 µs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B46A00"/>
                </a:solidFill>
                <a:latin typeface="Calibri"/>
              </a:defRPr>
            </a:pPr>
            <a:r>
              <a:t>bf16 is more efficient.  FP8 is faster.</a:t>
            </a:r>
            <a:br/>
            <a:r>
              <a:t>Why?  2x Tensor Core FLOPS + half the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8/24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DeepGEMM — NCU Key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63040"/>
            <a:ext cx="73152" cy="91440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E6EB8"/>
                </a:solidFill>
                <a:latin typeface="Calibri"/>
              </a:defRPr>
            </a:pPr>
            <a:r>
              <a:t>Barrier Stalls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9"/>
              </a:spcAft>
              <a:defRPr sz="1700" b="0">
                <a:solidFill>
                  <a:srgbClr val="1A1A2E"/>
                </a:solidFill>
                <a:latin typeface="Calibri"/>
              </a:defRPr>
            </a:pPr>
            <a:r>
              <a:t>4.3 cycles/warp (32.95% est. speedup)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834640"/>
            <a:ext cx="73152" cy="91440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346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57A55"/>
                </a:solidFill>
                <a:latin typeface="Calibri"/>
              </a:defRPr>
            </a:pPr>
            <a:r>
              <a:t>Occupancy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9"/>
              </a:spcAft>
              <a:defRPr sz="1700" b="0">
                <a:solidFill>
                  <a:srgbClr val="1A1A2E"/>
                </a:solidFill>
                <a:latin typeface="Calibri"/>
              </a:defRPr>
            </a:pPr>
            <a:r>
              <a:t>14% achieved (18.75% theoretical) — limited by 168 regs + 216 KB SMEM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206240"/>
            <a:ext cx="73152" cy="914400"/>
          </a:xfrm>
          <a:prstGeom prst="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206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B46A00"/>
                </a:solidFill>
                <a:latin typeface="Calibri"/>
              </a:defRPr>
            </a:pPr>
            <a:r>
              <a:t>Shared Store Bank Conflicts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634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9"/>
              </a:spcAft>
              <a:defRPr sz="1700" b="0">
                <a:solidFill>
                  <a:srgbClr val="1A1A2E"/>
                </a:solidFill>
                <a:latin typeface="Calibri"/>
              </a:defRPr>
            </a:pPr>
            <a:r>
              <a:t>12.55% — scale factor write pattern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4864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1">
                <a:solidFill>
                  <a:srgbClr val="B46A00"/>
                </a:solidFill>
                <a:latin typeface="Calibri"/>
              </a:defRPr>
            </a:pPr>
            <a:r>
              <a:t>"The scale factor overhead is the price of FP8 quantization"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9/24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057A55"/>
                </a:solidFill>
                <a:latin typeface="Calibri"/>
              </a:defRPr>
            </a:pPr>
            <a:r>
              <a:t>KERNEL 2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FlashAttention-3: Hopper-Native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555555"/>
                </a:solidFill>
                <a:latin typeface="Calibri"/>
              </a:defRPr>
            </a:pPr>
            <a:r>
              <a:t>github.com/Dao-AILab/flash-attention  (hopper/)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389120"/>
            <a:ext cx="7315200" cy="73152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200" b="1">
                <a:solidFill>
                  <a:srgbClr val="057A55"/>
                </a:solidFill>
                <a:latin typeface="Calibri"/>
              </a:defRPr>
            </a:pPr>
            <a:r>
              <a:t>2.0–2.6x faster than FA-2 across all sequence lengths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10/24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What Changed from FA-2 to FA-3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548640" cy="548640"/>
          </a:xfrm>
          <a:prstGeom prst="round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57A55"/>
                </a:solidFill>
                <a:latin typeface="Calibri"/>
              </a:defRPr>
            </a:pPr>
            <a:r>
              <a:t>WGMMA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74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1A1A2E"/>
                </a:solidFill>
                <a:latin typeface="Calibri"/>
              </a:defRPr>
            </a:pPr>
            <a:r>
              <a:t>Warp Group MMA: larger Tensor Core tiles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651760"/>
            <a:ext cx="548640" cy="548640"/>
          </a:xfrm>
          <a:prstGeom prst="round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51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E6EB8"/>
                </a:solidFill>
                <a:latin typeface="Calibri"/>
              </a:defRPr>
            </a:pPr>
            <a:r>
              <a:t>TMA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063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1A1A2E"/>
                </a:solidFill>
                <a:latin typeface="Calibri"/>
              </a:defRPr>
            </a:pPr>
            <a:r>
              <a:t>Tensor Memory Accelerator: async bulk HBM → SMEM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548640" cy="548640"/>
          </a:xfrm>
          <a:prstGeom prst="round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840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B46A00"/>
                </a:solidFill>
                <a:latin typeface="Calibri"/>
              </a:defRPr>
            </a:pPr>
            <a:r>
              <a:t>Warp Specialization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251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1A1A2E"/>
                </a:solidFill>
                <a:latin typeface="Calibri"/>
              </a:defRPr>
            </a:pPr>
            <a:r>
              <a:t>Producer warps (TMA) overlap with consumer warps (WGMMA)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1A1A2E"/>
                </a:solidFill>
                <a:latin typeface="Calibri"/>
              </a:defRPr>
            </a:pPr>
            <a:r>
              <a:t>Plus: Ping-pong scheduling overlaps GEMM and softmax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11/24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FA-3 vs FA-2 — Scaling 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0" y="1371600"/>
          <a:ext cx="8503920" cy="208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94560"/>
              </a:tblGrid>
              <a:tr h="457200"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Seq Length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FA-2 (ms)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FA-3 (ms)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512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0.059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0.031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1.89x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2048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0.980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0.474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2.07x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4096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3.698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1.667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2.22x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8192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14.054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6.593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2.13x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48463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057A55"/>
                </a:solidFill>
                <a:latin typeface="Calibri"/>
              </a:defRPr>
            </a:pPr>
            <a:r>
              <a:t>Consistent 2x across all sequence lengths — not a one-off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12/24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FA-3 — Kernel Names Tell the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555555"/>
                </a:solidFill>
                <a:latin typeface="Calibri"/>
              </a:defRPr>
            </a:pPr>
            <a:r>
              <a:t>FlashAttention-2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5029200" cy="9144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800" b="1">
                <a:solidFill>
                  <a:srgbClr val="1A1A2E"/>
                </a:solidFill>
                <a:latin typeface="Calibri"/>
              </a:defRPr>
            </a:pPr>
            <a:r>
              <a:t>flash_fwd_kernel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Hand-written CUDA kernel, vendored in PyTorch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555555"/>
                </a:solidFill>
                <a:latin typeface="Calibri"/>
              </a:defRPr>
            </a:pPr>
            <a:r>
              <a:t>FlashAttention-3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03120"/>
            <a:ext cx="5029200" cy="9144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800" b="1">
                <a:solidFill>
                  <a:srgbClr val="1A1A2E"/>
                </a:solidFill>
                <a:latin typeface="Calibri"/>
              </a:defRPr>
            </a:pPr>
            <a:r>
              <a:t>device_kernel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CUTLASS 3.x CuTeDSL template, Hopper-native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28600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80"/>
              </a:spcAft>
              <a:defRPr sz="3600" b="1">
                <a:solidFill>
                  <a:srgbClr val="B46A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7548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B46A00"/>
                </a:solidFill>
                <a:latin typeface="Calibri"/>
              </a:defRPr>
            </a:pPr>
            <a:r>
              <a:t>"The name change reflects the architecture shift:</a:t>
            </a:r>
            <a:br/>
            <a:r>
              <a:t>from hand-tuned to template-generated"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13/24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FA-3 — Perfetto Trace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2286000"/>
            <a:ext cx="8534095" cy="32004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0"/>
          <a:lstStyle/>
          <a:p>
            <a:pPr algn="ctr">
              <a:spcAft>
                <a:spcPts val="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[LIVE DEMO — Perfetto UI]</a:t>
            </a:r>
            <a:br/>
            <a:br/>
            <a:r>
              <a:t>FA-2 trace (flash_fwd_kernel)  vs  FA-3 trace (device_kernel)</a:t>
            </a:r>
            <a:br/>
            <a:r>
              <a:t>Same attention, different kernel, 2x faster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14/24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B46A00"/>
                </a:solidFill>
                <a:latin typeface="Calibri"/>
              </a:defRPr>
            </a:pPr>
            <a:r>
              <a:t>KERNEL 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SonicMoE: IO-Aware MoE Kernels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555555"/>
                </a:solidFill>
                <a:latin typeface="Calibri"/>
              </a:defRPr>
            </a:pPr>
            <a:r>
              <a:t>github.com/Dao-AILab/sonic-moe  (Tri Dao, Princeton / Together 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389120"/>
            <a:ext cx="7315200" cy="73152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200" b="1">
                <a:solidFill>
                  <a:srgbClr val="B46A00"/>
                </a:solidFill>
                <a:latin typeface="Calibri"/>
              </a:defRPr>
            </a:pPr>
            <a:r>
              <a:t>45% less activation memory, 1.86x faster than ScatterMoE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15/24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Why MoE Kernels Are Hard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Each expert processes a variable number of tokens (varlen-M Grouped GEMM)</a:t>
            </a:r>
          </a:p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Fine-grained MoEs: small expert size → IO-bound, not compute-bound</a:t>
            </a:r>
          </a:p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Standard approach: gather tokens → pad → GEMM → scatter 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206240"/>
            <a:ext cx="1280160" cy="6400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600" b="1">
                <a:solidFill>
                  <a:srgbClr val="1A1A2E"/>
                </a:solidFill>
                <a:latin typeface="Calibri"/>
              </a:defRPr>
            </a:pPr>
            <a:r>
              <a:t>Gather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4297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40"/>
              </a:spcAft>
              <a:defRPr sz="2800" b="1">
                <a:solidFill>
                  <a:srgbClr val="B46A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4206240"/>
            <a:ext cx="1280160" cy="6400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600" b="1">
                <a:solidFill>
                  <a:srgbClr val="1A1A2E"/>
                </a:solidFill>
                <a:latin typeface="Calibri"/>
              </a:defRPr>
            </a:pPr>
            <a:r>
              <a:t>Pad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4297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40"/>
              </a:spcAft>
              <a:defRPr sz="2800" b="1">
                <a:solidFill>
                  <a:srgbClr val="B46A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4206240"/>
            <a:ext cx="1280160" cy="6400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600" b="1">
                <a:solidFill>
                  <a:srgbClr val="1A1A2E"/>
                </a:solidFill>
                <a:latin typeface="Calibri"/>
              </a:defRPr>
            </a:pPr>
            <a:r>
              <a:t>GEMM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297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40"/>
              </a:spcAft>
              <a:defRPr sz="2800" b="1">
                <a:solidFill>
                  <a:srgbClr val="B46A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0" y="4206240"/>
            <a:ext cx="1280160" cy="6400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600" b="1">
                <a:solidFill>
                  <a:srgbClr val="1A1A2E"/>
                </a:solidFill>
                <a:latin typeface="Calibri"/>
              </a:defRPr>
            </a:pPr>
            <a:r>
              <a:t>Scatter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3035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B46A00"/>
                </a:solidFill>
                <a:latin typeface="Calibri"/>
              </a:defRPr>
            </a:pPr>
            <a:r>
              <a:t>"The IO cost scales linearly with expert granularity"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16/24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SonicMoE’s Key Innovations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548640" cy="548640"/>
          </a:xfrm>
          <a:prstGeom prst="round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4630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57A55"/>
                </a:solidFill>
                <a:latin typeface="Calibri"/>
              </a:defRPr>
            </a:pPr>
            <a:r>
              <a:t>Gather 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920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9"/>
              </a:spcAft>
              <a:defRPr sz="1700" b="0">
                <a:solidFill>
                  <a:srgbClr val="1A1A2E"/>
                </a:solidFill>
                <a:latin typeface="Calibri"/>
              </a:defRPr>
            </a:pPr>
            <a:r>
              <a:t>Token gather fused with GEMM prologue (no separate kernel)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34640"/>
            <a:ext cx="548640" cy="548640"/>
          </a:xfrm>
          <a:prstGeom prst="round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8346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E6EB8"/>
                </a:solidFill>
                <a:latin typeface="Calibri"/>
              </a:defRPr>
            </a:pPr>
            <a:r>
              <a:t>Ping-Pong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291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9"/>
              </a:spcAft>
              <a:defRPr sz="1700" b="0">
                <a:solidFill>
                  <a:srgbClr val="1A1A2E"/>
                </a:solidFill>
                <a:latin typeface="Calibri"/>
              </a:defRPr>
            </a:pPr>
            <a:r>
              <a:t>Overlap epilogue IO with next tile’s MMA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06240"/>
            <a:ext cx="548640" cy="548640"/>
          </a:xfrm>
          <a:prstGeom prst="round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42062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B46A00"/>
                </a:solidFill>
                <a:latin typeface="Calibri"/>
              </a:defRPr>
            </a:pPr>
            <a:r>
              <a:t>Epilogue Fusion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9"/>
              </a:spcAft>
              <a:defRPr sz="1700" b="0">
                <a:solidFill>
                  <a:srgbClr val="1A1A2E"/>
                </a:solidFill>
                <a:latin typeface="Calibri"/>
              </a:defRPr>
            </a:pPr>
            <a:r>
              <a:t>SwiGLU + dS + A′ computed in GEMM epilogue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5212080"/>
            <a:ext cx="6675120" cy="73152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200" b="1">
                <a:solidFill>
                  <a:srgbClr val="057A55"/>
                </a:solidFill>
                <a:latin typeface="Calibri"/>
              </a:defRPr>
            </a:pPr>
            <a:r>
              <a:t>Result: IO is hidden behind compute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17/24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SonicMoE — Profiler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555555"/>
                </a:solidFill>
                <a:latin typeface="Calibri"/>
              </a:defRPr>
            </a:pPr>
            <a:r>
              <a:t>Configuration: E=128, K=8, d=1536, n=256 (7B MoE)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3657600" cy="73152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400" b="1">
                <a:solidFill>
                  <a:srgbClr val="B46A00"/>
                </a:solidFill>
                <a:latin typeface="Calibri"/>
              </a:defRPr>
            </a:pPr>
            <a:r>
              <a:t>35 TFLOPS on H200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0E6EB8"/>
                </a:solidFill>
                <a:latin typeface="Calibri"/>
              </a:defRPr>
            </a:pPr>
            <a:r>
              <a:t>Key Kernels: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49039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7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quackgemm_actGemmGatedSm90  (up projection + SwiGLU fused)</a:t>
            </a:r>
          </a:p>
          <a:p>
            <a:pPr algn="l">
              <a:spcAft>
                <a:spcPts val="800"/>
              </a:spcAft>
              <a:defRPr sz="17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quackgemm_default_epiGemmDefaultSm90  (down projection)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3035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70"/>
              </a:spcAft>
              <a:defRPr sz="1900" b="1">
                <a:solidFill>
                  <a:srgbClr val="B46A00"/>
                </a:solidFill>
                <a:latin typeface="Calibri"/>
              </a:defRPr>
            </a:pPr>
            <a:r>
              <a:t>"Two GEMM kernels with fused activation — that’s the entire MoE forward"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18/24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SonicMoE — Perfetto Trace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2286000"/>
            <a:ext cx="8534095" cy="3200400"/>
          </a:xfrm>
          <a:prstGeom prst="roundRect">
            <a:avLst/>
          </a:prstGeom>
          <a:solidFill>
            <a:srgbClr val="22223A"/>
          </a:solidFill>
          <a:ln w="2540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0"/>
          <a:lstStyle/>
          <a:p>
            <a:pPr algn="ctr">
              <a:spcAft>
                <a:spcPts val="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[LIVE DEMO — Perfetto UI]</a:t>
            </a:r>
            <a:br/>
            <a:br/>
            <a:r>
              <a:t>sonicmoe_forward annotation, two GEMM kernels, routing overhead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19/24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The Production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DGX Spark profiling: DeepGEMM accounts for 61.9% of GPU time in DeepSeek-V4-Flash inference</a:t>
            </a:r>
          </a:p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SonicMoE beats DeepGEMM by 43% on forward pass for fine-grained MoEs (from their paper)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3840480"/>
            <a:ext cx="7589520" cy="9144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400" b="1">
                <a:solidFill>
                  <a:srgbClr val="B46A00"/>
                </a:solidFill>
                <a:latin typeface="Calibri"/>
              </a:defRPr>
            </a:pPr>
            <a:r>
              <a:t>These GEMM kernels ARE the bottleneck in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20/24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Summary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286000"/>
                <a:gridCol w="2286000"/>
                <a:gridCol w="3566160"/>
              </a:tblGrid>
              <a:tr h="457200"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What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Key NCU Insight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DeepGEMM FP8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JIT FP8 GEMM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3.09x vs bf16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67% compute, TMA-only data path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FlashAttention-3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Hopper attention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2.0–2.6x vs FA-2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WGMMA + TMA + warp specialization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SonicMoE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IO-aware MoE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35 TFLOPS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Gather fusion + ping-pong scheduling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21/24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Takeaways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548640" cy="548640"/>
          </a:xfrm>
          <a:prstGeom prst="round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E6EB8"/>
                </a:solidFill>
                <a:latin typeface="Calibri"/>
              </a:defRPr>
            </a:pPr>
            <a:r>
              <a:t>torch.profiler tells you WHAT happened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288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555555"/>
                </a:solidFill>
                <a:latin typeface="Calibri"/>
              </a:defRPr>
            </a:pPr>
            <a:r>
              <a:t>Open the trace in Perfetto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606040"/>
            <a:ext cx="548640" cy="548640"/>
          </a:xfrm>
          <a:prstGeom prst="round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060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57A55"/>
                </a:solidFill>
                <a:latin typeface="Calibri"/>
              </a:defRPr>
            </a:pPr>
            <a:r>
              <a:t>Nsight Compute tells you 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0632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555555"/>
                </a:solidFill>
                <a:latin typeface="Calibri"/>
              </a:defRPr>
            </a:pPr>
            <a:r>
              <a:t>Roofline, occupancy, memory throughput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548640" cy="548640"/>
          </a:xfrm>
          <a:prstGeom prst="round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8404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B46A00"/>
                </a:solidFill>
                <a:latin typeface="Calibri"/>
              </a:defRPr>
            </a:pPr>
            <a:r>
              <a:t>Kernel names are fingerprints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2976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555555"/>
                </a:solidFill>
                <a:latin typeface="Calibri"/>
              </a:defRPr>
            </a:pPr>
            <a:r>
              <a:t>sm90, fp8, 1d2d, device_kernel, quackgemm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74920"/>
            <a:ext cx="548640" cy="54864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5074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1A1A2E"/>
                </a:solidFill>
                <a:latin typeface="Calibri"/>
              </a:defRPr>
            </a:pPr>
            <a:r>
              <a:t>Profile first. Then optimize. Then profile again.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22/24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0E6EB8"/>
                </a:solidFill>
                <a:latin typeface="Calibri"/>
              </a:defRPr>
            </a:pPr>
            <a:r>
              <a:t>▶  Workshop 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3716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1A1A2E"/>
                </a:solidFill>
                <a:latin typeface="Calibri"/>
              </a:defRPr>
            </a:pPr>
            <a:r>
              <a:t>github.com/XAheli/torch-profiler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0E6EB8"/>
                </a:solidFill>
                <a:latin typeface="Calibri"/>
              </a:defRPr>
            </a:pPr>
            <a:r>
              <a:t>▶  DeepGEMM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1945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1A1A2E"/>
                </a:solidFill>
                <a:latin typeface="Calibri"/>
              </a:defRPr>
            </a:pPr>
            <a:r>
              <a:t>github.com/deepseek-ai/DeepGEMM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17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057A55"/>
                </a:solidFill>
                <a:latin typeface="Calibri"/>
              </a:defRPr>
            </a:pPr>
            <a:r>
              <a:t>▶  FlashAttention-3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017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1A1A2E"/>
                </a:solidFill>
                <a:latin typeface="Calibri"/>
              </a:defRPr>
            </a:pPr>
            <a:r>
              <a:t>github.com/Dao-AILab/flash-attention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B46A00"/>
                </a:solidFill>
                <a:latin typeface="Calibri"/>
              </a:defRPr>
            </a:pPr>
            <a:r>
              <a:t>▶  SonicMoE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8404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1A1A2E"/>
                </a:solidFill>
                <a:latin typeface="Calibri"/>
              </a:defRPr>
            </a:pPr>
            <a:r>
              <a:t>github.com/Dao-AILab/sonic-moe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63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555555"/>
                </a:solidFill>
                <a:latin typeface="Calibri"/>
              </a:defRPr>
            </a:pPr>
            <a:r>
              <a:t>▶  Perfetto 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6634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1A1A2E"/>
                </a:solidFill>
                <a:latin typeface="Calibri"/>
              </a:defRPr>
            </a:pPr>
            <a:r>
              <a:t>ui.perfetto.dev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669280"/>
            <a:ext cx="10058400" cy="27432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0">
                <a:solidFill>
                  <a:srgbClr val="555555"/>
                </a:solidFill>
                <a:latin typeface="Calibri"/>
              </a:defRPr>
            </a:pPr>
            <a:r>
              <a:t>Red Hat PyTorch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23/24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How Fast Is Your Kernel, Really?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926080"/>
            <a:ext cx="2103120" cy="36576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2918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80"/>
              </a:spcAft>
              <a:defRPr sz="3600" b="1">
                <a:solidFill>
                  <a:srgbClr val="0E6EB8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0">
                <a:solidFill>
                  <a:srgbClr val="555555"/>
                </a:solidFill>
                <a:latin typeface="Calibri"/>
              </a:defRPr>
            </a:pPr>
            <a:r>
              <a:t>Red Hat PyTorch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0292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40"/>
              </a:spcAft>
              <a:defRPr sz="2800" b="1">
                <a:solidFill>
                  <a:srgbClr val="B46A00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24/24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